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DevGuard" id="{a66960f5-5b27-81ff-7fe5-735a3f570112}">
          <p14:sldIdLst>
            <p14:sldId id="256"/>
            <p14:sldId id="257"/>
            <p14:sldId id="258"/>
            <p14:sldId id="259"/>
          </p14:sldIdLst>
        </p14:section>
        <p14:section name="The three parts" id="{7b2953d1-c389-4a37-70cc-d220268691d9}">
          <p14:sldIdLst>
            <p14:sldId id="260"/>
            <p14:sldId id="261"/>
            <p14:sldId id="262"/>
            <p14:sldId id="263"/>
            <p14:sldId id="264"/>
            <p14:sldId id="265"/>
            <p14:sldId id="266"/>
            <p14:sldId id="267"/>
          </p14:sldIdLst>
        </p14:section>
        <p14:section name="Use it" id="{e214ddfc-5cf1-d554-85fa-b3ab07814b65}">
          <p14:sldIdLst>
            <p14:sldId id="268"/>
            <p14:sldId id="269"/>
            <p14:sldId id="270"/>
            <p14:sldId id="271"/>
            <p14:sldId id="272"/>
          </p14:sldIdLst>
        </p14:section>
        <p14:section name="Limits and next steps" id="{c1983b51-efc8-64e7-ff00-5953f087e0a9}">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a short tour of DevGuard: the problem it solves, its three parts, what it supports, and how to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problems, one root cause. A wrong destination exposes a whole project. A committed secret stays in history even after it is deleted. Nobody can see what is happening, and there is no record of who allowed what. The result: the company cannot prevent it, cannot see it, and cannot prove anything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word answers one of the four problems. Prevent: nothing leaves. Detect: secrets are found even in deleted history. Notify: the developer is told immediately and security administrators get an email. Prove: a full record of decisions and changes. Exceptions stay controlled and expire.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about scope. It prevents mistakes in ordinary Git workflows. It does not claim to prevent every way data could leave a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enforces on the laptop. The API is the source of truth. The dashboard is the control surface for people, and it makes no security decisions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sends events up and receives rules down. Administrators use the dashboard to change rules and read data. Only the API touches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steps. Stress that the scan covers the commits being pushed, not just the files in the working tree, so a secret added and then deleted is still caught.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only enforces. Events carry the rule, kind of secret, file path, line and commit, never the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message format. A normal push prints nothing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Developers use enroll once, then almost nothing. Status and sync are the troubleshooting commands. Every command also accepts the json flag for scripts.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API is the single source of truth. It never trusts the browser or the laptop: permissions, scope and expiry are checked on the server every time. Two kinds of person exist today: security administrator and employee.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security administrators can sign in today. The dashboard makes no security decisions: the API decides what each person may do. It switches to a menu drawer and card lists below 1024 pixels wide.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secret detector is small and deliberate: high-confidence patterns only. It is not comprehensive. New branches, several branches at once, force-pushes, deletions and tags are all handled.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DevGuard never silently fails open. If it cannot read its own state or understand the destination, it blocks in enforce mode and says why. Only a repository that matches no project passes.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Needs Node 22 or newer, pnpm 10 or newer and Git 2.30 or newer. The token is shown once, works once and expires in 30 minutes. The server address must be https, except localhost.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Nobody can approve their own request. The approver must still be an active administrator when the exception is used. The server checks project, destination and expiry on every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laptop agent is never run in a container. Set SMTP_HOST to turn on email alerts; Mailpit catches them in development. JWT_SECRET must be at least 32 random characters.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plainly. A hook on a person’s own laptop can be skipped or removed. DevGuard detects some of these cases and reports them, but it does not claim to prevent them. An event shows that the hook saw a push attempt and what it decided, not whether data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Alerts today are a minimal email to security administrators, best effort. The right-hand list is a set of options, not commitments. None of it is implemented.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The PDF has the full guide, including setup, troubleshooting and a glossary.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8FAF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91672" cy="105156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100" dirty="0">
                <a:solidFill>
                  <a:srgbClr val="64748B"/>
                </a:solidFill>
              </a:rPr>
              <a:t>DevGuard · Tushar Saxena</a:t>
            </a:r>
            <a:endParaRPr lang="en-US" sz="11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12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77240"/>
            <a:ext cx="11091672" cy="10515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100" dirty="0">
                <a:solidFill>
                  <a:srgbClr val="94A3B8"/>
                </a:solidFill>
              </a:rPr>
              <a:t>DevGuard · Tushar Saxena</a:t>
            </a:r>
            <a:endParaRPr lang="en-US" sz="11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4A3B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0B12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148840"/>
            <a:ext cx="8229600" cy="1371600"/>
          </a:xfrm>
          <a:prstGeom prst="rect">
            <a:avLst/>
          </a:prstGeom>
          <a:noFill/>
          <a:ln/>
        </p:spPr>
        <p:txBody>
          <a:bodyPr wrap="square" rtlCol="0"/>
          <a:lstStyle>
            <a:lvl1pPr algn="l" indent="0" marL="0">
              <a:buNone/>
              <a:defRPr lang="en-US" sz="8000" b="1" dirty="0">
                <a:solidFill>
                  <a:schemeClr val="bg1"/>
                </a:solidFill>
              </a:defRPr>
            </a:lvl1pPr>
          </a:lstStyle>
          <a:p>
            <a:pPr algn="l" indent="0" marL="0">
              <a:buNone/>
            </a:pPr>
            <a:endParaRPr lang="en-US" sz="80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E">
    <p:bg>
      <p:bgPr>
        <a:solidFill>
          <a:srgbClr val="0B12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103120"/>
            <a:ext cx="9144000" cy="1280160"/>
          </a:xfrm>
          <a:prstGeom prst="rect">
            <a:avLst/>
          </a:prstGeom>
          <a:noFill/>
          <a:ln/>
        </p:spPr>
        <p:txBody>
          <a:bodyPr wrap="square" rtlCol="0"/>
          <a:lstStyle>
            <a:lvl1pPr algn="l" indent="0" marL="0">
              <a:buNone/>
              <a:defRPr lang="en-US" sz="7200" b="1" dirty="0">
                <a:solidFill>
                  <a:schemeClr val="bg1"/>
                </a:solidFill>
              </a:defRPr>
            </a:lvl1pPr>
          </a:lstStyle>
          <a:p>
            <a:pPr algn="l" indent="0" marL="0">
              <a:buNone/>
            </a:pPr>
            <a:endParaRPr lang="en-US" sz="7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5.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DevGuard shield with a check mark">    </p:cNvPr>
          <p:cNvPicPr>
            <a:picLocks noChangeAspect="1"/>
          </p:cNvPicPr>
          <p:nvPr/>
        </p:nvPicPr>
        <p:blipFill>
          <a:blip r:embed="rId1"/>
          <a:stretch>
            <a:fillRect/>
          </a:stretch>
        </p:blipFill>
        <p:spPr>
          <a:xfrm>
            <a:off x="822960" y="685800"/>
            <a:ext cx="566928" cy="566928"/>
          </a:xfrm>
          <a:prstGeom prst="rect">
            <a:avLst/>
          </a:prstGeom>
        </p:spPr>
      </p:pic>
      <p:sp>
        <p:nvSpPr>
          <p:cNvPr id="4" name="Text 0"/>
          <p:cNvSpPr txBox="1"/>
          <p:nvPr/>
        </p:nvSpPr>
        <p:spPr>
          <a:xfrm>
            <a:off x="1554480" y="822960"/>
            <a:ext cx="3657600" cy="320040"/>
          </a:xfrm>
          <a:prstGeom prst="rect">
            <a:avLst/>
          </a:prstGeom>
          <a:noFill/>
          <a:ln/>
        </p:spPr>
        <p:txBody>
          <a:bodyPr wrap="square" lIns="0" tIns="0" rIns="0" bIns="0" rtlCol="0" anchor="ctr"/>
          <a:lstStyle/>
          <a:p>
            <a:pPr indent="0" marL="0">
              <a:buNone/>
            </a:pPr>
            <a:r>
              <a:rPr lang="en-US" sz="1600" b="1" spc="400" kern="0" dirty="0">
                <a:solidFill>
                  <a:srgbClr val="E0E7FF"/>
                </a:solidFill>
              </a:rPr>
              <a:t>DEVGUARD</a:t>
            </a:r>
            <a:endParaRPr lang="en-US" sz="1600" dirty="0"/>
          </a:p>
        </p:txBody>
      </p:sp>
      <p:sp>
        <p:nvSpPr>
          <p:cNvPr id="5" name="Text 0"/>
          <p:cNvSpPr/>
          <p:nvPr>
            <p:ph idx="100" type="title" hasCustomPrompt="1"/>
          </p:nvPr>
        </p:nvSpPr>
        <p:spPr>
          <a:xfrm>
            <a:off x="822960" y="2148840"/>
            <a:ext cx="8229600" cy="1371600"/>
          </a:xfrm>
          <a:prstGeom prst="rect">
            <a:avLst/>
          </a:prstGeom>
          <a:noFill/>
          <a:ln/>
        </p:spPr>
        <p:txBody>
          <a:bodyPr wrap="square" lIns="0" tIns="0" rIns="0" bIns="0" rtlCol="0" anchor="t"/>
          <a:lstStyle/>
          <a:p>
            <a:pPr algn="l" indent="0" marL="0">
              <a:buNone/>
            </a:pPr>
            <a:r>
              <a:rPr lang="en-US" sz="8000" b="1" dirty="0">
                <a:solidFill>
                  <a:schemeClr val="bg1"/>
                </a:solidFill>
              </a:rPr>
              <a:t>DevGuard</a:t>
            </a:r>
            <a:endParaRPr lang="en-US" sz="8000" dirty="0"/>
          </a:p>
        </p:txBody>
      </p:sp>
      <p:sp>
        <p:nvSpPr>
          <p:cNvPr id="6" name="Text 2"/>
          <p:cNvSpPr txBox="1"/>
          <p:nvPr/>
        </p:nvSpPr>
        <p:spPr>
          <a:xfrm>
            <a:off x="822960" y="3611880"/>
            <a:ext cx="7863840" cy="914400"/>
          </a:xfrm>
          <a:prstGeom prst="rect">
            <a:avLst/>
          </a:prstGeom>
          <a:noFill/>
          <a:ln/>
        </p:spPr>
        <p:txBody>
          <a:bodyPr wrap="square" lIns="0" tIns="0" rIns="0" bIns="0" rtlCol="0" anchor="t"/>
          <a:lstStyle/>
          <a:p>
            <a:pPr indent="0" marL="0">
              <a:buNone/>
            </a:pPr>
            <a:r>
              <a:rPr lang="en-US" sz="2400" dirty="0">
                <a:solidFill>
                  <a:srgbClr val="C7D2FE"/>
                </a:solidFill>
              </a:rPr>
              <a:t>A safety net that stops accidental Git pushes of company code to the wrong place, and shows you what happened.</a:t>
            </a:r>
            <a:endParaRPr lang="en-US" sz="2400" dirty="0"/>
          </a:p>
        </p:txBody>
      </p:sp>
      <p:sp>
        <p:nvSpPr>
          <p:cNvPr id="7" name="Text 3"/>
          <p:cNvSpPr/>
          <p:nvPr/>
        </p:nvSpPr>
        <p:spPr>
          <a:xfrm>
            <a:off x="822960" y="4846320"/>
            <a:ext cx="1737360" cy="411480"/>
          </a:xfrm>
          <a:prstGeom prst="roundRect">
            <a:avLst>
              <a:gd name="adj" fmla="val 48889"/>
            </a:avLst>
          </a:prstGeom>
          <a:solidFill>
            <a:srgbClr val="1E293B"/>
          </a:solidFill>
          <a:ln w="9525">
            <a:solidFill>
              <a:srgbClr val="475569"/>
            </a:solidFill>
          </a:ln>
        </p:spPr>
        <p:txBody>
          <a:bodyPr wrap="square" lIns="0" tIns="0" rIns="0" bIns="0" rtlCol="0" anchor="ctr"/>
          <a:lstStyle/>
          <a:p>
            <a:pPr algn="ctr" indent="0" marL="0">
              <a:buNone/>
            </a:pPr>
            <a:r>
              <a:rPr lang="en-US" sz="1300" dirty="0">
                <a:solidFill>
                  <a:srgbClr val="E0E7FF"/>
                </a:solidFill>
              </a:rPr>
              <a:t>Laptop agent</a:t>
            </a:r>
            <a:endParaRPr lang="en-US" sz="1300" dirty="0"/>
          </a:p>
        </p:txBody>
      </p:sp>
      <p:sp>
        <p:nvSpPr>
          <p:cNvPr id="8" name="Text 4"/>
          <p:cNvSpPr/>
          <p:nvPr/>
        </p:nvSpPr>
        <p:spPr>
          <a:xfrm>
            <a:off x="2743200" y="4846320"/>
            <a:ext cx="2286000" cy="411480"/>
          </a:xfrm>
          <a:prstGeom prst="roundRect">
            <a:avLst>
              <a:gd name="adj" fmla="val 48889"/>
            </a:avLst>
          </a:prstGeom>
          <a:solidFill>
            <a:srgbClr val="1E293B"/>
          </a:solidFill>
          <a:ln w="9525">
            <a:solidFill>
              <a:srgbClr val="475569"/>
            </a:solidFill>
          </a:ln>
        </p:spPr>
        <p:txBody>
          <a:bodyPr wrap="square" lIns="0" tIns="0" rIns="0" bIns="0" rtlCol="0" anchor="ctr"/>
          <a:lstStyle/>
          <a:p>
            <a:pPr algn="ctr" indent="0" marL="0">
              <a:buNone/>
            </a:pPr>
            <a:r>
              <a:rPr lang="en-US" sz="1300" dirty="0">
                <a:solidFill>
                  <a:srgbClr val="E0E7FF"/>
                </a:solidFill>
              </a:rPr>
              <a:t>Control server (API)</a:t>
            </a:r>
            <a:endParaRPr lang="en-US" sz="1300" dirty="0"/>
          </a:p>
        </p:txBody>
      </p:sp>
      <p:sp>
        <p:nvSpPr>
          <p:cNvPr id="9" name="Text 5"/>
          <p:cNvSpPr/>
          <p:nvPr/>
        </p:nvSpPr>
        <p:spPr>
          <a:xfrm>
            <a:off x="5212080" y="4846320"/>
            <a:ext cx="1554480" cy="411480"/>
          </a:xfrm>
          <a:prstGeom prst="roundRect">
            <a:avLst>
              <a:gd name="adj" fmla="val 48889"/>
            </a:avLst>
          </a:prstGeom>
          <a:solidFill>
            <a:srgbClr val="1E293B"/>
          </a:solidFill>
          <a:ln w="9525">
            <a:solidFill>
              <a:srgbClr val="475569"/>
            </a:solidFill>
          </a:ln>
        </p:spPr>
        <p:txBody>
          <a:bodyPr wrap="square" lIns="0" tIns="0" rIns="0" bIns="0" rtlCol="0" anchor="ctr"/>
          <a:lstStyle/>
          <a:p>
            <a:pPr algn="ctr" indent="0" marL="0">
              <a:buNone/>
            </a:pPr>
            <a:r>
              <a:rPr lang="en-US" sz="1300" dirty="0">
                <a:solidFill>
                  <a:srgbClr val="E0E7FF"/>
                </a:solidFill>
              </a:rPr>
              <a:t>Dashboard</a:t>
            </a:r>
            <a:endParaRPr lang="en-US" sz="1300" dirty="0"/>
          </a:p>
        </p:txBody>
      </p:sp>
      <p:sp>
        <p:nvSpPr>
          <p:cNvPr id="10" name="Text 6"/>
          <p:cNvSpPr txBox="1"/>
          <p:nvPr/>
        </p:nvSpPr>
        <p:spPr>
          <a:xfrm>
            <a:off x="822960" y="5806440"/>
            <a:ext cx="3657600" cy="228600"/>
          </a:xfrm>
          <a:prstGeom prst="rect">
            <a:avLst/>
          </a:prstGeom>
          <a:noFill/>
          <a:ln/>
        </p:spPr>
        <p:txBody>
          <a:bodyPr wrap="square" lIns="0" tIns="0" rIns="0" bIns="0" rtlCol="0" anchor="t"/>
          <a:lstStyle/>
          <a:p>
            <a:pPr indent="0" marL="0">
              <a:buNone/>
            </a:pPr>
            <a:r>
              <a:rPr lang="en-US" sz="1100" spc="300" kern="0" dirty="0">
                <a:solidFill>
                  <a:srgbClr val="94A3B8"/>
                </a:solidFill>
              </a:rPr>
              <a:t>PREPARED BY</a:t>
            </a:r>
            <a:endParaRPr lang="en-US" sz="1100" dirty="0"/>
          </a:p>
        </p:txBody>
      </p:sp>
      <p:sp>
        <p:nvSpPr>
          <p:cNvPr id="11" name="Text 7"/>
          <p:cNvSpPr txBox="1"/>
          <p:nvPr/>
        </p:nvSpPr>
        <p:spPr>
          <a:xfrm>
            <a:off x="822960" y="6053328"/>
            <a:ext cx="5486400" cy="502920"/>
          </a:xfrm>
          <a:prstGeom prst="rect">
            <a:avLst/>
          </a:prstGeom>
          <a:noFill/>
          <a:ln/>
        </p:spPr>
        <p:txBody>
          <a:bodyPr wrap="square" lIns="0" tIns="0" rIns="0" bIns="0" rtlCol="0" anchor="t"/>
          <a:lstStyle/>
          <a:p>
            <a:pPr indent="0" marL="0">
              <a:buNone/>
            </a:pPr>
            <a:r>
              <a:rPr lang="en-US" sz="2800" b="1" dirty="0">
                <a:solidFill>
                  <a:schemeClr val="bg1"/>
                </a:solidFill>
              </a:rPr>
              <a:t>Tushar Saxena</a:t>
            </a:r>
            <a:endParaRPr lang="en-US" sz="2800" dirty="0"/>
          </a:p>
        </p:txBody>
      </p:sp>
      <p:sp>
        <p:nvSpPr>
          <p:cNvPr id="12" name="Text 8"/>
          <p:cNvSpPr txBox="1"/>
          <p:nvPr/>
        </p:nvSpPr>
        <p:spPr>
          <a:xfrm>
            <a:off x="7498080" y="6263640"/>
            <a:ext cx="3840480" cy="274320"/>
          </a:xfrm>
          <a:prstGeom prst="rect">
            <a:avLst/>
          </a:prstGeom>
          <a:noFill/>
          <a:ln/>
        </p:spPr>
        <p:txBody>
          <a:bodyPr wrap="square" lIns="0" tIns="0" rIns="0" bIns="0" rtlCol="0" anchor="t"/>
          <a:lstStyle/>
          <a:p>
            <a:pPr algn="r" indent="0" marL="0">
              <a:buNone/>
            </a:pPr>
            <a:r>
              <a:rPr lang="en-US" sz="1300" dirty="0">
                <a:solidFill>
                  <a:srgbClr val="94A3B8"/>
                </a:solidFill>
              </a:rPr>
              <a:t>Hackathon build · October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Eyebrow"/>
          <p:cNvSpPr txBox="1"/>
          <p:nvPr/>
        </p:nvSpPr>
        <p:spPr>
          <a:xfrm>
            <a:off x="548640" y="438912"/>
            <a:ext cx="11091672"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THE PROBLEM</a:t>
            </a:r>
            <a:endParaRPr lang="en-US" sz="1200" dirty="0"/>
          </a:p>
        </p:txBody>
      </p:sp>
      <p:sp>
        <p:nvSpPr>
          <p:cNvPr id="4" name="Text 0"/>
          <p:cNvSpPr/>
          <p:nvPr>
            <p:ph idx="100" type="title" hasCustomPrompt="1"/>
          </p:nvPr>
        </p:nvSpPr>
        <p:spPr>
          <a:xfrm>
            <a:off x="548640" y="777240"/>
            <a:ext cx="11091672" cy="1051560"/>
          </a:xfrm>
          <a:prstGeom prst="rect">
            <a:avLst/>
          </a:prstGeom>
          <a:noFill/>
          <a:ln/>
        </p:spPr>
        <p:txBody>
          <a:bodyPr wrap="square" lIns="0" tIns="0" rIns="0" bIns="0" rtlCol="0" anchor="t"/>
          <a:lstStyle/>
          <a:p>
            <a:pPr algn="l" indent="0" marL="0">
              <a:buNone/>
            </a:pPr>
            <a:r>
              <a:rPr lang="en-US" sz="3400" b="1" dirty="0">
                <a:solidFill>
                  <a:schemeClr val="tx1"/>
                </a:solidFill>
              </a:rPr>
              <a:t>Code leaves company laptops through ordinary mistakes, and nobody sees it happen</a:t>
            </a:r>
            <a:endParaRPr lang="en-US" sz="3400" dirty="0"/>
          </a:p>
        </p:txBody>
      </p:sp>
      <p:sp>
        <p:nvSpPr>
          <p:cNvPr id="5" name="Card"/>
          <p:cNvSpPr/>
          <p:nvPr/>
        </p:nvSpPr>
        <p:spPr>
          <a:xfrm>
            <a:off x="548640" y="2103120"/>
            <a:ext cx="2651760" cy="2331720"/>
          </a:xfrm>
          <a:prstGeom prst="roundRect">
            <a:avLst>
              <a:gd name="adj" fmla="val 4706"/>
            </a:avLst>
          </a:prstGeom>
          <a:solidFill>
            <a:schemeClr val="bg1"/>
          </a:solidFill>
          <a:ln w="9525">
            <a:solidFill>
              <a:srgbClr val="E2E8F0"/>
            </a:solidFill>
            <a:prstDash val="solid"/>
          </a:ln>
          <a:effectLst>
            <a:outerShdw sx="100000" sy="100000" kx="0" ky="0" algn="bl" rotWithShape="0" blurRad="101600" dist="25400" dir="5400000">
              <a:srgbClr val="000000">
                <a:alpha val="7000"/>
              </a:srgbClr>
            </a:outerShdw>
          </a:effectLst>
        </p:spPr>
      </p:sp>
      <p:sp>
        <p:nvSpPr>
          <p:cNvPr id="6" name="Badge 1"/>
          <p:cNvSpPr/>
          <p:nvPr/>
        </p:nvSpPr>
        <p:spPr>
          <a:xfrm>
            <a:off x="777240" y="2331720"/>
            <a:ext cx="420624" cy="420624"/>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777240" y="2907792"/>
            <a:ext cx="2194560" cy="411480"/>
          </a:xfrm>
          <a:prstGeom prst="rect">
            <a:avLst/>
          </a:prstGeom>
          <a:noFill/>
          <a:ln/>
        </p:spPr>
        <p:txBody>
          <a:bodyPr wrap="square" lIns="0" tIns="0" rIns="0" bIns="0" rtlCol="0" anchor="t"/>
          <a:lstStyle/>
          <a:p>
            <a:pPr indent="0" marL="0">
              <a:buNone/>
            </a:pPr>
            <a:r>
              <a:rPr lang="en-US" sz="2000" b="1" dirty="0">
                <a:solidFill>
                  <a:schemeClr val="tx1"/>
                </a:solidFill>
              </a:rPr>
              <a:t>Wrong destination</a:t>
            </a:r>
            <a:endParaRPr lang="en-US" sz="2000" dirty="0"/>
          </a:p>
        </p:txBody>
      </p:sp>
      <p:sp>
        <p:nvSpPr>
          <p:cNvPr id="8" name="Text 5"/>
          <p:cNvSpPr txBox="1"/>
          <p:nvPr/>
        </p:nvSpPr>
        <p:spPr>
          <a:xfrm>
            <a:off x="777240" y="3364992"/>
            <a:ext cx="2194560" cy="1005840"/>
          </a:xfrm>
          <a:prstGeom prst="rect">
            <a:avLst/>
          </a:prstGeom>
          <a:noFill/>
          <a:ln/>
        </p:spPr>
        <p:txBody>
          <a:bodyPr wrap="square" lIns="0" tIns="0" rIns="0" bIns="0" rtlCol="0" anchor="t"/>
          <a:lstStyle/>
          <a:p>
            <a:pPr indent="0" marL="0">
              <a:buNone/>
            </a:pPr>
            <a:r>
              <a:rPr lang="en-US" sz="1400" dirty="0">
                <a:solidFill>
                  <a:schemeClr val="accent6"/>
                </a:solidFill>
              </a:rPr>
              <a:t>A project is pushed to a personal, look-alike or mistyped remote.</a:t>
            </a:r>
            <a:endParaRPr lang="en-US" sz="1400" dirty="0"/>
          </a:p>
        </p:txBody>
      </p:sp>
      <p:sp>
        <p:nvSpPr>
          <p:cNvPr id="9" name="Card"/>
          <p:cNvSpPr/>
          <p:nvPr/>
        </p:nvSpPr>
        <p:spPr>
          <a:xfrm>
            <a:off x="3362249" y="2103120"/>
            <a:ext cx="2651760" cy="2331720"/>
          </a:xfrm>
          <a:prstGeom prst="roundRect">
            <a:avLst>
              <a:gd name="adj" fmla="val 4706"/>
            </a:avLst>
          </a:prstGeom>
          <a:solidFill>
            <a:schemeClr val="bg1"/>
          </a:solidFill>
          <a:ln w="9525">
            <a:solidFill>
              <a:srgbClr val="E2E8F0"/>
            </a:solidFill>
            <a:prstDash val="solid"/>
          </a:ln>
          <a:effectLst>
            <a:outerShdw sx="100000" sy="100000" kx="0" ky="0" algn="bl" rotWithShape="0" blurRad="101600" dist="25400" dir="5400000">
              <a:srgbClr val="000000">
                <a:alpha val="7000"/>
              </a:srgbClr>
            </a:outerShdw>
          </a:effectLst>
        </p:spPr>
      </p:sp>
      <p:sp>
        <p:nvSpPr>
          <p:cNvPr id="10" name="Badge 2"/>
          <p:cNvSpPr/>
          <p:nvPr/>
        </p:nvSpPr>
        <p:spPr>
          <a:xfrm>
            <a:off x="3590849" y="2331720"/>
            <a:ext cx="420624" cy="420624"/>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3590849" y="2907792"/>
            <a:ext cx="2194560" cy="411480"/>
          </a:xfrm>
          <a:prstGeom prst="rect">
            <a:avLst/>
          </a:prstGeom>
          <a:noFill/>
          <a:ln/>
        </p:spPr>
        <p:txBody>
          <a:bodyPr wrap="square" lIns="0" tIns="0" rIns="0" bIns="0" rtlCol="0" anchor="t"/>
          <a:lstStyle/>
          <a:p>
            <a:pPr indent="0" marL="0">
              <a:buNone/>
            </a:pPr>
            <a:r>
              <a:rPr lang="en-US" sz="2000" b="1" dirty="0">
                <a:solidFill>
                  <a:schemeClr val="tx1"/>
                </a:solidFill>
              </a:rPr>
              <a:t>Secrets in commits</a:t>
            </a:r>
            <a:endParaRPr lang="en-US" sz="2000" dirty="0"/>
          </a:p>
        </p:txBody>
      </p:sp>
      <p:sp>
        <p:nvSpPr>
          <p:cNvPr id="12" name="Text 9"/>
          <p:cNvSpPr txBox="1"/>
          <p:nvPr/>
        </p:nvSpPr>
        <p:spPr>
          <a:xfrm>
            <a:off x="3590849" y="3364992"/>
            <a:ext cx="2194560" cy="1005840"/>
          </a:xfrm>
          <a:prstGeom prst="rect">
            <a:avLst/>
          </a:prstGeom>
          <a:noFill/>
          <a:ln/>
        </p:spPr>
        <p:txBody>
          <a:bodyPr wrap="square" lIns="0" tIns="0" rIns="0" bIns="0" rtlCol="0" anchor="t"/>
          <a:lstStyle/>
          <a:p>
            <a:pPr indent="0" marL="0">
              <a:buNone/>
            </a:pPr>
            <a:r>
              <a:rPr lang="en-US" sz="1400" dirty="0">
                <a:solidFill>
                  <a:schemeClr val="accent6"/>
                </a:solidFill>
              </a:rPr>
              <a:t>A key, token or .env file is committed. Deleting it later does not remove it from history.</a:t>
            </a:r>
            <a:endParaRPr lang="en-US" sz="1400" dirty="0"/>
          </a:p>
        </p:txBody>
      </p:sp>
      <p:sp>
        <p:nvSpPr>
          <p:cNvPr id="13" name="Card"/>
          <p:cNvSpPr/>
          <p:nvPr/>
        </p:nvSpPr>
        <p:spPr>
          <a:xfrm>
            <a:off x="6175858" y="2103120"/>
            <a:ext cx="2651760" cy="2331720"/>
          </a:xfrm>
          <a:prstGeom prst="roundRect">
            <a:avLst>
              <a:gd name="adj" fmla="val 4706"/>
            </a:avLst>
          </a:prstGeom>
          <a:solidFill>
            <a:schemeClr val="bg1"/>
          </a:solidFill>
          <a:ln w="9525">
            <a:solidFill>
              <a:srgbClr val="E2E8F0"/>
            </a:solidFill>
            <a:prstDash val="solid"/>
          </a:ln>
          <a:effectLst>
            <a:outerShdw sx="100000" sy="100000" kx="0" ky="0" algn="bl" rotWithShape="0" blurRad="101600" dist="25400" dir="5400000">
              <a:srgbClr val="000000">
                <a:alpha val="7000"/>
              </a:srgbClr>
            </a:outerShdw>
          </a:effectLst>
        </p:spPr>
      </p:sp>
      <p:sp>
        <p:nvSpPr>
          <p:cNvPr id="14" name="Badge 3"/>
          <p:cNvSpPr/>
          <p:nvPr/>
        </p:nvSpPr>
        <p:spPr>
          <a:xfrm>
            <a:off x="6404458" y="2331720"/>
            <a:ext cx="420624" cy="42062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2"/>
          <p:cNvSpPr txBox="1"/>
          <p:nvPr/>
        </p:nvSpPr>
        <p:spPr>
          <a:xfrm>
            <a:off x="6404458" y="2907792"/>
            <a:ext cx="2194560" cy="411480"/>
          </a:xfrm>
          <a:prstGeom prst="rect">
            <a:avLst/>
          </a:prstGeom>
          <a:noFill/>
          <a:ln/>
        </p:spPr>
        <p:txBody>
          <a:bodyPr wrap="square" lIns="0" tIns="0" rIns="0" bIns="0" rtlCol="0" anchor="t"/>
          <a:lstStyle/>
          <a:p>
            <a:pPr indent="0" marL="0">
              <a:buNone/>
            </a:pPr>
            <a:r>
              <a:rPr lang="en-US" sz="2000" b="1" dirty="0">
                <a:solidFill>
                  <a:schemeClr val="tx1"/>
                </a:solidFill>
              </a:rPr>
              <a:t>No visibility</a:t>
            </a:r>
            <a:endParaRPr lang="en-US" sz="2000" dirty="0"/>
          </a:p>
        </p:txBody>
      </p:sp>
      <p:sp>
        <p:nvSpPr>
          <p:cNvPr id="16" name="Text 13"/>
          <p:cNvSpPr txBox="1"/>
          <p:nvPr/>
        </p:nvSpPr>
        <p:spPr>
          <a:xfrm>
            <a:off x="6404458" y="3364992"/>
            <a:ext cx="2194560" cy="1005840"/>
          </a:xfrm>
          <a:prstGeom prst="rect">
            <a:avLst/>
          </a:prstGeom>
          <a:noFill/>
          <a:ln/>
        </p:spPr>
        <p:txBody>
          <a:bodyPr wrap="square" lIns="0" tIns="0" rIns="0" bIns="0" rtlCol="0" anchor="t"/>
          <a:lstStyle/>
          <a:p>
            <a:pPr indent="0" marL="0">
              <a:buNone/>
            </a:pPr>
            <a:r>
              <a:rPr lang="en-US" sz="1400" dirty="0">
                <a:solidFill>
                  <a:schemeClr val="accent6"/>
                </a:solidFill>
              </a:rPr>
              <a:t>Nobody sees who pushed what, where and when. Problems surface days later.</a:t>
            </a:r>
            <a:endParaRPr lang="en-US" sz="1400" dirty="0"/>
          </a:p>
        </p:txBody>
      </p:sp>
      <p:sp>
        <p:nvSpPr>
          <p:cNvPr id="17" name="Card"/>
          <p:cNvSpPr/>
          <p:nvPr/>
        </p:nvSpPr>
        <p:spPr>
          <a:xfrm>
            <a:off x="8989466" y="2103120"/>
            <a:ext cx="2651760" cy="2331720"/>
          </a:xfrm>
          <a:prstGeom prst="roundRect">
            <a:avLst>
              <a:gd name="adj" fmla="val 4706"/>
            </a:avLst>
          </a:prstGeom>
          <a:solidFill>
            <a:schemeClr val="bg1"/>
          </a:solidFill>
          <a:ln w="9525">
            <a:solidFill>
              <a:srgbClr val="E2E8F0"/>
            </a:solidFill>
            <a:prstDash val="solid"/>
          </a:ln>
          <a:effectLst>
            <a:outerShdw sx="100000" sy="100000" kx="0" ky="0" algn="bl" rotWithShape="0" blurRad="101600" dist="25400" dir="5400000">
              <a:srgbClr val="000000">
                <a:alpha val="7000"/>
              </a:srgbClr>
            </a:outerShdw>
          </a:effectLst>
        </p:spPr>
      </p:sp>
      <p:sp>
        <p:nvSpPr>
          <p:cNvPr id="18" name="Badge 4"/>
          <p:cNvSpPr/>
          <p:nvPr/>
        </p:nvSpPr>
        <p:spPr>
          <a:xfrm>
            <a:off x="9218066" y="2331720"/>
            <a:ext cx="420624" cy="420624"/>
          </a:xfrm>
          <a:prstGeom prst="ellipse">
            <a:avLst/>
          </a:prstGeom>
          <a:solidFill>
            <a:schemeClr val="accent6"/>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9" name="Text 16"/>
          <p:cNvSpPr txBox="1"/>
          <p:nvPr/>
        </p:nvSpPr>
        <p:spPr>
          <a:xfrm>
            <a:off x="9218066" y="2907792"/>
            <a:ext cx="2194560" cy="411480"/>
          </a:xfrm>
          <a:prstGeom prst="rect">
            <a:avLst/>
          </a:prstGeom>
          <a:noFill/>
          <a:ln/>
        </p:spPr>
        <p:txBody>
          <a:bodyPr wrap="square" lIns="0" tIns="0" rIns="0" bIns="0" rtlCol="0" anchor="t"/>
          <a:lstStyle/>
          <a:p>
            <a:pPr indent="0" marL="0">
              <a:buNone/>
            </a:pPr>
            <a:r>
              <a:rPr lang="en-US" sz="2000" b="1" dirty="0">
                <a:solidFill>
                  <a:schemeClr val="tx1"/>
                </a:solidFill>
              </a:rPr>
              <a:t>No proof</a:t>
            </a:r>
            <a:endParaRPr lang="en-US" sz="2000" dirty="0"/>
          </a:p>
        </p:txBody>
      </p:sp>
      <p:sp>
        <p:nvSpPr>
          <p:cNvPr id="20" name="Text 17"/>
          <p:cNvSpPr txBox="1"/>
          <p:nvPr/>
        </p:nvSpPr>
        <p:spPr>
          <a:xfrm>
            <a:off x="9218066" y="3364992"/>
            <a:ext cx="2194560" cy="1005840"/>
          </a:xfrm>
          <a:prstGeom prst="rect">
            <a:avLst/>
          </a:prstGeom>
          <a:noFill/>
          <a:ln/>
        </p:spPr>
        <p:txBody>
          <a:bodyPr wrap="square" lIns="0" tIns="0" rIns="0" bIns="0" rtlCol="0" anchor="t"/>
          <a:lstStyle/>
          <a:p>
            <a:pPr indent="0" marL="0">
              <a:buNone/>
            </a:pPr>
            <a:r>
              <a:rPr lang="en-US" sz="1400" dirty="0">
                <a:solidFill>
                  <a:schemeClr val="accent6"/>
                </a:solidFill>
              </a:rPr>
              <a:t>Exceptions are agreed informally, with no record of who approved what, or until when.</a:t>
            </a:r>
            <a:endParaRPr lang="en-US" sz="1400" dirty="0"/>
          </a:p>
        </p:txBody>
      </p:sp>
      <p:sp>
        <p:nvSpPr>
          <p:cNvPr id="21" name="Summary band"/>
          <p:cNvSpPr/>
          <p:nvPr/>
        </p:nvSpPr>
        <p:spPr>
          <a:xfrm>
            <a:off x="548640" y="4754880"/>
            <a:ext cx="11091672" cy="1234440"/>
          </a:xfrm>
          <a:prstGeom prst="roundRect">
            <a:avLst>
              <a:gd name="adj" fmla="val 8889"/>
            </a:avLst>
          </a:prstGeom>
          <a:solidFill>
            <a:schemeClr val="tx2"/>
          </a:solidFill>
          <a:ln w="6350">
            <a:solidFill>
              <a:schemeClr val="tx2"/>
            </a:solidFill>
            <a:prstDash val="solid"/>
          </a:ln>
        </p:spPr>
      </p:sp>
      <p:sp>
        <p:nvSpPr>
          <p:cNvPr id="22" name="Text 19"/>
          <p:cNvSpPr txBox="1"/>
          <p:nvPr/>
        </p:nvSpPr>
        <p:spPr>
          <a:xfrm>
            <a:off x="960120" y="4983480"/>
            <a:ext cx="10268712" cy="822960"/>
          </a:xfrm>
          <a:prstGeom prst="rect">
            <a:avLst/>
          </a:prstGeom>
          <a:noFill/>
          <a:ln/>
        </p:spPr>
        <p:txBody>
          <a:bodyPr wrap="square" lIns="0" tIns="0" rIns="0" bIns="0" rtlCol="0" anchor="ctr"/>
          <a:lstStyle/>
          <a:p>
            <a:pPr indent="0" marL="0">
              <a:buNone/>
            </a:pPr>
            <a:r>
              <a:rPr lang="en-US" sz="2400" dirty="0">
                <a:solidFill>
                  <a:srgbClr val="F1F5F9"/>
                </a:solidFill>
              </a:rPr>
              <a:t>The company cannot </a:t>
            </a:r>
            <a:pPr indent="0" marL="0">
              <a:buNone/>
            </a:pPr>
            <a:r>
              <a:rPr lang="en-US" sz="2400" b="1" dirty="0">
                <a:solidFill>
                  <a:srgbClr val="FCA5A5"/>
                </a:solidFill>
              </a:rPr>
              <a:t>stop it before it happens</a:t>
            </a:r>
            <a:pPr indent="0" marL="0">
              <a:buNone/>
            </a:pPr>
            <a:r>
              <a:rPr lang="en-US" sz="2400" dirty="0">
                <a:solidFill>
                  <a:srgbClr val="F1F5F9"/>
                </a:solidFill>
              </a:rPr>
              <a:t>, cannot </a:t>
            </a:r>
            <a:pPr indent="0" marL="0">
              <a:buNone/>
            </a:pPr>
            <a:r>
              <a:rPr lang="en-US" sz="2400" b="1" dirty="0">
                <a:solidFill>
                  <a:srgbClr val="FCD34D"/>
                </a:solidFill>
              </a:rPr>
              <a:t>see it when it does</a:t>
            </a:r>
            <a:pPr indent="0" marL="0">
              <a:buNone/>
            </a:pPr>
            <a:r>
              <a:rPr lang="en-US" sz="2400" dirty="0">
                <a:solidFill>
                  <a:srgbClr val="F1F5F9"/>
                </a:solidFill>
              </a:rPr>
              <a:t>, and has </a:t>
            </a:r>
            <a:pPr indent="0" marL="0">
              <a:buNone/>
            </a:pPr>
            <a:r>
              <a:rPr lang="en-US" sz="2400" b="1" dirty="0">
                <a:solidFill>
                  <a:srgbClr val="A5B4FC"/>
                </a:solidFill>
              </a:rPr>
              <a:t>no evidence afterwards</a:t>
            </a:r>
            <a:pPr indent="0" marL="0">
              <a:buNone/>
            </a:pPr>
            <a:r>
              <a:rPr lang="en-US" sz="2400" dirty="0">
                <a:solidFill>
                  <a:srgbClr val="F1F5F9"/>
                </a:solidFill>
              </a:rPr>
              <a:t>.</a:t>
            </a:r>
            <a:endParaRPr lang="en-US" sz="24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Eyebrow"/>
          <p:cNvSpPr txBox="1"/>
          <p:nvPr/>
        </p:nvSpPr>
        <p:spPr>
          <a:xfrm>
            <a:off x="548640" y="438912"/>
            <a:ext cx="11091672"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OUR ANSWER</a:t>
            </a:r>
            <a:endParaRPr lang="en-US" sz="1200" dirty="0"/>
          </a:p>
        </p:txBody>
      </p:sp>
      <p:sp>
        <p:nvSpPr>
          <p:cNvPr id="4" name="Text 0"/>
          <p:cNvSpPr/>
          <p:nvPr>
            <p:ph idx="100" type="title" hasCustomPrompt="1"/>
          </p:nvPr>
        </p:nvSpPr>
        <p:spPr>
          <a:xfrm>
            <a:off x="548640" y="777240"/>
            <a:ext cx="11091672" cy="1051560"/>
          </a:xfrm>
          <a:prstGeom prst="rect">
            <a:avLst/>
          </a:prstGeom>
          <a:noFill/>
          <a:ln/>
        </p:spPr>
        <p:txBody>
          <a:bodyPr wrap="square" lIns="0" tIns="0" rIns="0" bIns="0" rtlCol="0" anchor="t"/>
          <a:lstStyle/>
          <a:p>
            <a:pPr algn="l" indent="0" marL="0">
              <a:buNone/>
            </a:pPr>
            <a:r>
              <a:rPr lang="en-US" sz="3400" b="1" dirty="0">
                <a:solidFill>
                  <a:schemeClr val="tx1"/>
                </a:solidFill>
              </a:rPr>
              <a:t>Prevent it. Detect it. Notify. Prove it</a:t>
            </a:r>
            <a:endParaRPr lang="en-US" sz="3400" dirty="0"/>
          </a:p>
        </p:txBody>
      </p:sp>
      <p:sp>
        <p:nvSpPr>
          <p:cNvPr id="5" name="Card"/>
          <p:cNvSpPr/>
          <p:nvPr/>
        </p:nvSpPr>
        <p:spPr>
          <a:xfrm>
            <a:off x="548640" y="2103120"/>
            <a:ext cx="2651760" cy="2514600"/>
          </a:xfrm>
          <a:prstGeom prst="roundRect">
            <a:avLst>
              <a:gd name="adj" fmla="val 4364"/>
            </a:avLst>
          </a:prstGeom>
          <a:solidFill>
            <a:schemeClr val="bg1"/>
          </a:solidFill>
          <a:ln w="9525">
            <a:solidFill>
              <a:srgbClr val="E2E8F0"/>
            </a:solidFill>
            <a:prstDash val="solid"/>
          </a:ln>
          <a:effectLst>
            <a:outerShdw sx="100000" sy="100000" kx="0" ky="0" algn="bl" rotWithShape="0" blurRad="101600" dist="25400" dir="5400000">
              <a:srgbClr val="000000">
                <a:alpha val="7000"/>
              </a:srgbClr>
            </a:outerShdw>
          </a:effectLst>
        </p:spPr>
      </p:sp>
      <p:sp>
        <p:nvSpPr>
          <p:cNvPr id="6" name="Badge 1"/>
          <p:cNvSpPr/>
          <p:nvPr/>
        </p:nvSpPr>
        <p:spPr>
          <a:xfrm>
            <a:off x="777240" y="2331720"/>
            <a:ext cx="420624" cy="42062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777240" y="2907792"/>
            <a:ext cx="2194560" cy="457200"/>
          </a:xfrm>
          <a:prstGeom prst="rect">
            <a:avLst/>
          </a:prstGeom>
          <a:noFill/>
          <a:ln/>
        </p:spPr>
        <p:txBody>
          <a:bodyPr wrap="square" lIns="0" tIns="0" rIns="0" bIns="0" rtlCol="0" anchor="t"/>
          <a:lstStyle/>
          <a:p>
            <a:pPr indent="0" marL="0">
              <a:buNone/>
            </a:pPr>
            <a:r>
              <a:rPr lang="en-US" sz="2600" b="1" dirty="0">
                <a:solidFill>
                  <a:schemeClr val="accent1"/>
                </a:solidFill>
              </a:rPr>
              <a:t>Prevent</a:t>
            </a:r>
            <a:endParaRPr lang="en-US" sz="2600" dirty="0"/>
          </a:p>
        </p:txBody>
      </p:sp>
      <p:sp>
        <p:nvSpPr>
          <p:cNvPr id="8" name="Text 5"/>
          <p:cNvSpPr txBox="1"/>
          <p:nvPr/>
        </p:nvSpPr>
        <p:spPr>
          <a:xfrm>
            <a:off x="777240" y="3429000"/>
            <a:ext cx="2194560" cy="1143000"/>
          </a:xfrm>
          <a:prstGeom prst="rect">
            <a:avLst/>
          </a:prstGeom>
          <a:noFill/>
          <a:ln/>
        </p:spPr>
        <p:txBody>
          <a:bodyPr wrap="square" lIns="0" tIns="0" rIns="0" bIns="0" rtlCol="0" anchor="t"/>
          <a:lstStyle/>
          <a:p>
            <a:pPr indent="0" marL="0">
              <a:buNone/>
            </a:pPr>
            <a:r>
              <a:rPr lang="en-US" sz="1400" dirty="0">
                <a:solidFill>
                  <a:schemeClr val="accent6"/>
                </a:solidFill>
              </a:rPr>
              <a:t>Blocks a push to an unapproved destination, or one carrying prohibited files or secrets, before anything leaves.</a:t>
            </a:r>
            <a:endParaRPr lang="en-US" sz="1400" dirty="0"/>
          </a:p>
        </p:txBody>
      </p:sp>
      <p:sp>
        <p:nvSpPr>
          <p:cNvPr id="9" name="Card"/>
          <p:cNvSpPr/>
          <p:nvPr/>
        </p:nvSpPr>
        <p:spPr>
          <a:xfrm>
            <a:off x="3362249" y="2103120"/>
            <a:ext cx="2651760" cy="2514600"/>
          </a:xfrm>
          <a:prstGeom prst="roundRect">
            <a:avLst>
              <a:gd name="adj" fmla="val 4364"/>
            </a:avLst>
          </a:prstGeom>
          <a:solidFill>
            <a:schemeClr val="bg1"/>
          </a:solidFill>
          <a:ln w="9525">
            <a:solidFill>
              <a:srgbClr val="E2E8F0"/>
            </a:solidFill>
            <a:prstDash val="solid"/>
          </a:ln>
          <a:effectLst>
            <a:outerShdw sx="100000" sy="100000" kx="0" ky="0" algn="bl" rotWithShape="0" blurRad="101600" dist="25400" dir="5400000">
              <a:srgbClr val="000000">
                <a:alpha val="7000"/>
              </a:srgbClr>
            </a:outerShdw>
          </a:effectLst>
        </p:spPr>
      </p:sp>
      <p:sp>
        <p:nvSpPr>
          <p:cNvPr id="10" name="Badge 2"/>
          <p:cNvSpPr/>
          <p:nvPr/>
        </p:nvSpPr>
        <p:spPr>
          <a:xfrm>
            <a:off x="3590849" y="2331720"/>
            <a:ext cx="420624" cy="420624"/>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3590849" y="2907792"/>
            <a:ext cx="2194560" cy="457200"/>
          </a:xfrm>
          <a:prstGeom prst="rect">
            <a:avLst/>
          </a:prstGeom>
          <a:noFill/>
          <a:ln/>
        </p:spPr>
        <p:txBody>
          <a:bodyPr wrap="square" lIns="0" tIns="0" rIns="0" bIns="0" rtlCol="0" anchor="t"/>
          <a:lstStyle/>
          <a:p>
            <a:pPr indent="0" marL="0">
              <a:buNone/>
            </a:pPr>
            <a:r>
              <a:rPr lang="en-US" sz="2600" b="1" dirty="0">
                <a:solidFill>
                  <a:schemeClr val="accent2"/>
                </a:solidFill>
              </a:rPr>
              <a:t>Detect</a:t>
            </a:r>
            <a:endParaRPr lang="en-US" sz="2600" dirty="0"/>
          </a:p>
        </p:txBody>
      </p:sp>
      <p:sp>
        <p:nvSpPr>
          <p:cNvPr id="12" name="Text 9"/>
          <p:cNvSpPr txBox="1"/>
          <p:nvPr/>
        </p:nvSpPr>
        <p:spPr>
          <a:xfrm>
            <a:off x="3590849" y="3429000"/>
            <a:ext cx="2194560" cy="1143000"/>
          </a:xfrm>
          <a:prstGeom prst="rect">
            <a:avLst/>
          </a:prstGeom>
          <a:noFill/>
          <a:ln/>
        </p:spPr>
        <p:txBody>
          <a:bodyPr wrap="square" lIns="0" tIns="0" rIns="0" bIns="0" rtlCol="0" anchor="t"/>
          <a:lstStyle/>
          <a:p>
            <a:pPr indent="0" marL="0">
              <a:buNone/>
            </a:pPr>
            <a:r>
              <a:rPr lang="en-US" sz="1400" dirty="0">
                <a:solidFill>
                  <a:schemeClr val="accent6"/>
                </a:solidFill>
              </a:rPr>
              <a:t>Scans every outgoing commit, including deleted history, for secrets, keys and .env files.</a:t>
            </a:r>
            <a:endParaRPr lang="en-US" sz="1400" dirty="0"/>
          </a:p>
        </p:txBody>
      </p:sp>
      <p:sp>
        <p:nvSpPr>
          <p:cNvPr id="13" name="Card"/>
          <p:cNvSpPr/>
          <p:nvPr/>
        </p:nvSpPr>
        <p:spPr>
          <a:xfrm>
            <a:off x="6175858" y="2103120"/>
            <a:ext cx="2651760" cy="2514600"/>
          </a:xfrm>
          <a:prstGeom prst="roundRect">
            <a:avLst>
              <a:gd name="adj" fmla="val 4364"/>
            </a:avLst>
          </a:prstGeom>
          <a:solidFill>
            <a:schemeClr val="bg1"/>
          </a:solidFill>
          <a:ln w="9525">
            <a:solidFill>
              <a:srgbClr val="E2E8F0"/>
            </a:solidFill>
            <a:prstDash val="solid"/>
          </a:ln>
          <a:effectLst>
            <a:outerShdw sx="100000" sy="100000" kx="0" ky="0" algn="bl" rotWithShape="0" blurRad="101600" dist="25400" dir="5400000">
              <a:srgbClr val="000000">
                <a:alpha val="7000"/>
              </a:srgbClr>
            </a:outerShdw>
          </a:effectLst>
        </p:spPr>
      </p:sp>
      <p:sp>
        <p:nvSpPr>
          <p:cNvPr id="14" name="Badge 3"/>
          <p:cNvSpPr/>
          <p:nvPr/>
        </p:nvSpPr>
        <p:spPr>
          <a:xfrm>
            <a:off x="6404458" y="2331720"/>
            <a:ext cx="420624" cy="420624"/>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2"/>
          <p:cNvSpPr txBox="1"/>
          <p:nvPr/>
        </p:nvSpPr>
        <p:spPr>
          <a:xfrm>
            <a:off x="6404458" y="2907792"/>
            <a:ext cx="2194560" cy="457200"/>
          </a:xfrm>
          <a:prstGeom prst="rect">
            <a:avLst/>
          </a:prstGeom>
          <a:noFill/>
          <a:ln/>
        </p:spPr>
        <p:txBody>
          <a:bodyPr wrap="square" lIns="0" tIns="0" rIns="0" bIns="0" rtlCol="0" anchor="t"/>
          <a:lstStyle/>
          <a:p>
            <a:pPr indent="0" marL="0">
              <a:buNone/>
            </a:pPr>
            <a:r>
              <a:rPr lang="en-US" sz="2600" b="1" dirty="0">
                <a:solidFill>
                  <a:schemeClr val="accent3"/>
                </a:solidFill>
              </a:rPr>
              <a:t>Notify</a:t>
            </a:r>
            <a:endParaRPr lang="en-US" sz="2600" dirty="0"/>
          </a:p>
        </p:txBody>
      </p:sp>
      <p:sp>
        <p:nvSpPr>
          <p:cNvPr id="16" name="Text 13"/>
          <p:cNvSpPr txBox="1"/>
          <p:nvPr/>
        </p:nvSpPr>
        <p:spPr>
          <a:xfrm>
            <a:off x="6404458" y="3429000"/>
            <a:ext cx="2194560" cy="1143000"/>
          </a:xfrm>
          <a:prstGeom prst="rect">
            <a:avLst/>
          </a:prstGeom>
          <a:noFill/>
          <a:ln/>
        </p:spPr>
        <p:txBody>
          <a:bodyPr wrap="square" lIns="0" tIns="0" rIns="0" bIns="0" rtlCol="0" anchor="t"/>
          <a:lstStyle/>
          <a:p>
            <a:pPr indent="0" marL="0">
              <a:buNone/>
            </a:pPr>
            <a:r>
              <a:rPr lang="en-US" sz="1400" dirty="0">
                <a:solidFill>
                  <a:schemeClr val="accent6"/>
                </a:solidFill>
              </a:rPr>
              <a:t>Tells the developer why in plain words, and emails security administrators about blocks and secret findings.</a:t>
            </a:r>
            <a:endParaRPr lang="en-US" sz="1400" dirty="0"/>
          </a:p>
        </p:txBody>
      </p:sp>
      <p:sp>
        <p:nvSpPr>
          <p:cNvPr id="17" name="Card"/>
          <p:cNvSpPr/>
          <p:nvPr/>
        </p:nvSpPr>
        <p:spPr>
          <a:xfrm>
            <a:off x="8989466" y="2103120"/>
            <a:ext cx="2651760" cy="2514600"/>
          </a:xfrm>
          <a:prstGeom prst="roundRect">
            <a:avLst>
              <a:gd name="adj" fmla="val 4364"/>
            </a:avLst>
          </a:prstGeom>
          <a:solidFill>
            <a:schemeClr val="bg1"/>
          </a:solidFill>
          <a:ln w="9525">
            <a:solidFill>
              <a:srgbClr val="E2E8F0"/>
            </a:solidFill>
            <a:prstDash val="solid"/>
          </a:ln>
          <a:effectLst>
            <a:outerShdw sx="100000" sy="100000" kx="0" ky="0" algn="bl" rotWithShape="0" blurRad="101600" dist="25400" dir="5400000">
              <a:srgbClr val="000000">
                <a:alpha val="7000"/>
              </a:srgbClr>
            </a:outerShdw>
          </a:effectLst>
        </p:spPr>
      </p:sp>
      <p:sp>
        <p:nvSpPr>
          <p:cNvPr id="18" name="Badge 4"/>
          <p:cNvSpPr/>
          <p:nvPr/>
        </p:nvSpPr>
        <p:spPr>
          <a:xfrm>
            <a:off x="9218066" y="2331720"/>
            <a:ext cx="420624" cy="420624"/>
          </a:xfrm>
          <a:prstGeom prst="ellipse">
            <a:avLst/>
          </a:prstGeom>
          <a:solidFill>
            <a:schemeClr val="accent6"/>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9" name="Text 16"/>
          <p:cNvSpPr txBox="1"/>
          <p:nvPr/>
        </p:nvSpPr>
        <p:spPr>
          <a:xfrm>
            <a:off x="9218066" y="2907792"/>
            <a:ext cx="2194560" cy="457200"/>
          </a:xfrm>
          <a:prstGeom prst="rect">
            <a:avLst/>
          </a:prstGeom>
          <a:noFill/>
          <a:ln/>
        </p:spPr>
        <p:txBody>
          <a:bodyPr wrap="square" lIns="0" tIns="0" rIns="0" bIns="0" rtlCol="0" anchor="t"/>
          <a:lstStyle/>
          <a:p>
            <a:pPr indent="0" marL="0">
              <a:buNone/>
            </a:pPr>
            <a:r>
              <a:rPr lang="en-US" sz="2600" b="1" dirty="0">
                <a:solidFill>
                  <a:schemeClr val="accent6"/>
                </a:solidFill>
              </a:rPr>
              <a:t>Prove</a:t>
            </a:r>
            <a:endParaRPr lang="en-US" sz="2600" dirty="0"/>
          </a:p>
        </p:txBody>
      </p:sp>
      <p:sp>
        <p:nvSpPr>
          <p:cNvPr id="20" name="Text 17"/>
          <p:cNvSpPr txBox="1"/>
          <p:nvPr/>
        </p:nvSpPr>
        <p:spPr>
          <a:xfrm>
            <a:off x="9218066" y="3429000"/>
            <a:ext cx="2194560" cy="1143000"/>
          </a:xfrm>
          <a:prstGeom prst="rect">
            <a:avLst/>
          </a:prstGeom>
          <a:noFill/>
          <a:ln/>
        </p:spPr>
        <p:txBody>
          <a:bodyPr wrap="square" lIns="0" tIns="0" rIns="0" bIns="0" rtlCol="0" anchor="t"/>
          <a:lstStyle/>
          <a:p>
            <a:pPr indent="0" marL="0">
              <a:buNone/>
            </a:pPr>
            <a:r>
              <a:rPr lang="en-US" sz="1400" dirty="0">
                <a:solidFill>
                  <a:schemeClr val="accent6"/>
                </a:solidFill>
              </a:rPr>
              <a:t>Every push decision is an event. Every admin change goes into an append-only history.</a:t>
            </a:r>
            <a:endParaRPr lang="en-US" sz="1400" dirty="0"/>
          </a:p>
        </p:txBody>
      </p:sp>
      <p:sp>
        <p:nvSpPr>
          <p:cNvPr id="21" name="Exceptions band"/>
          <p:cNvSpPr/>
          <p:nvPr/>
        </p:nvSpPr>
        <p:spPr>
          <a:xfrm>
            <a:off x="548640" y="4937760"/>
            <a:ext cx="11091672" cy="1097280"/>
          </a:xfrm>
          <a:prstGeom prst="roundRect">
            <a:avLst>
              <a:gd name="adj" fmla="val 10000"/>
            </a:avLst>
          </a:prstGeom>
          <a:solidFill>
            <a:schemeClr val="tx2"/>
          </a:solidFill>
          <a:ln w="6350">
            <a:solidFill>
              <a:schemeClr val="tx2"/>
            </a:solidFill>
            <a:prstDash val="solid"/>
          </a:ln>
        </p:spPr>
      </p:sp>
      <p:sp>
        <p:nvSpPr>
          <p:cNvPr id="22" name="Text 19"/>
          <p:cNvSpPr txBox="1"/>
          <p:nvPr/>
        </p:nvSpPr>
        <p:spPr>
          <a:xfrm>
            <a:off x="960120" y="5102352"/>
            <a:ext cx="10268712" cy="320040"/>
          </a:xfrm>
          <a:prstGeom prst="rect">
            <a:avLst/>
          </a:prstGeom>
          <a:noFill/>
          <a:ln/>
        </p:spPr>
        <p:txBody>
          <a:bodyPr wrap="square" lIns="0" tIns="0" rIns="0" bIns="0" rtlCol="0" anchor="t"/>
          <a:lstStyle/>
          <a:p>
            <a:pPr indent="0" marL="0">
              <a:buNone/>
            </a:pPr>
            <a:r>
              <a:rPr lang="en-US" sz="2000" b="1" dirty="0">
                <a:solidFill>
                  <a:srgbClr val="6EE7B7"/>
                </a:solidFill>
              </a:rPr>
              <a:t>With controlled exceptions</a:t>
            </a:r>
            <a:endParaRPr lang="en-US" sz="2000" dirty="0"/>
          </a:p>
        </p:txBody>
      </p:sp>
      <p:sp>
        <p:nvSpPr>
          <p:cNvPr id="23" name="Text 20"/>
          <p:cNvSpPr txBox="1"/>
          <p:nvPr/>
        </p:nvSpPr>
        <p:spPr>
          <a:xfrm>
            <a:off x="960120" y="5486400"/>
            <a:ext cx="10268712" cy="457200"/>
          </a:xfrm>
          <a:prstGeom prst="rect">
            <a:avLst/>
          </a:prstGeom>
          <a:noFill/>
          <a:ln/>
        </p:spPr>
        <p:txBody>
          <a:bodyPr wrap="square" lIns="0" tIns="0" rIns="0" bIns="0" rtlCol="0" anchor="t"/>
          <a:lstStyle/>
          <a:p>
            <a:pPr indent="0" marL="0">
              <a:buNone/>
            </a:pPr>
            <a:r>
              <a:rPr lang="en-US" sz="1600" dirty="0">
                <a:solidFill>
                  <a:srgbClr val="CBD5E1"/>
                </a:solidFill>
              </a:rPr>
              <a:t>One project, one destination, a reason and an expiry, approved by a second admin. Developers only enroll once.</a:t>
            </a:r>
            <a:endParaRPr lang="en-US" sz="16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Eyebrow"/>
          <p:cNvSpPr txBox="1"/>
          <p:nvPr/>
        </p:nvSpPr>
        <p:spPr>
          <a:xfrm>
            <a:off x="548640" y="438912"/>
            <a:ext cx="11091672"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SCOPE</a:t>
            </a:r>
            <a:endParaRPr lang="en-US" sz="1200" dirty="0"/>
          </a:p>
        </p:txBody>
      </p:sp>
      <p:sp>
        <p:nvSpPr>
          <p:cNvPr id="4" name="Text 0"/>
          <p:cNvSpPr/>
          <p:nvPr>
            <p:ph idx="100" type="title" hasCustomPrompt="1"/>
          </p:nvPr>
        </p:nvSpPr>
        <p:spPr>
          <a:xfrm>
            <a:off x="548640" y="777240"/>
            <a:ext cx="11091672" cy="1051560"/>
          </a:xfrm>
          <a:prstGeom prst="rect">
            <a:avLst/>
          </a:prstGeom>
          <a:noFill/>
          <a:ln/>
        </p:spPr>
        <p:txBody>
          <a:bodyPr wrap="square" lIns="0" tIns="0" rIns="0" bIns="0" rtlCol="0" anchor="t"/>
          <a:lstStyle/>
          <a:p>
            <a:pPr algn="l" indent="0" marL="0">
              <a:buNone/>
            </a:pPr>
            <a:r>
              <a:rPr lang="en-US" sz="3400" b="1" dirty="0">
                <a:solidFill>
                  <a:schemeClr val="tx1"/>
                </a:solidFill>
              </a:rPr>
              <a:t>What DevGuard is, and is not</a:t>
            </a:r>
            <a:endParaRPr lang="en-US" sz="3400" dirty="0"/>
          </a:p>
        </p:txBody>
      </p:sp>
      <p:sp>
        <p:nvSpPr>
          <p:cNvPr id="5" name="Card"/>
          <p:cNvSpPr/>
          <p:nvPr/>
        </p:nvSpPr>
        <p:spPr>
          <a:xfrm>
            <a:off x="548640" y="2103120"/>
            <a:ext cx="5440680" cy="3291840"/>
          </a:xfrm>
          <a:prstGeom prst="roundRect">
            <a:avLst>
              <a:gd name="adj" fmla="val 3333"/>
            </a:avLst>
          </a:prstGeom>
          <a:solidFill>
            <a:srgbClr val="ECFDF5"/>
          </a:solidFill>
          <a:ln w="9525">
            <a:solidFill>
              <a:srgbClr val="A7F3D0"/>
            </a:solidFill>
            <a:prstDash val="solid"/>
          </a:ln>
        </p:spPr>
      </p:sp>
      <p:sp>
        <p:nvSpPr>
          <p:cNvPr id="6" name="Text 3"/>
          <p:cNvSpPr txBox="1"/>
          <p:nvPr/>
        </p:nvSpPr>
        <p:spPr>
          <a:xfrm>
            <a:off x="914400" y="2377440"/>
            <a:ext cx="4709160" cy="457200"/>
          </a:xfrm>
          <a:prstGeom prst="rect">
            <a:avLst/>
          </a:prstGeom>
          <a:noFill/>
          <a:ln/>
        </p:spPr>
        <p:txBody>
          <a:bodyPr wrap="square" lIns="0" tIns="0" rIns="0" bIns="0" rtlCol="0" anchor="t"/>
          <a:lstStyle/>
          <a:p>
            <a:pPr indent="0" marL="0">
              <a:buNone/>
            </a:pPr>
            <a:r>
              <a:rPr lang="en-US" sz="2800" b="1" dirty="0">
                <a:solidFill>
                  <a:schemeClr val="accent5"/>
                </a:solidFill>
              </a:rPr>
              <a:t>DevGuard is</a:t>
            </a:r>
            <a:endParaRPr lang="en-US" sz="2800" dirty="0"/>
          </a:p>
        </p:txBody>
      </p:sp>
      <p:sp>
        <p:nvSpPr>
          <p:cNvPr id="7" name="Text 4"/>
          <p:cNvSpPr txBox="1"/>
          <p:nvPr/>
        </p:nvSpPr>
        <p:spPr>
          <a:xfrm>
            <a:off x="914400" y="3017520"/>
            <a:ext cx="4709160" cy="219456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chemeClr val="tx1"/>
                </a:solidFill>
              </a:rPr>
              <a:t>A safety net against honest mistakes</a:t>
            </a:r>
            <a:endParaRPr lang="en-US" sz="2000" dirty="0"/>
          </a:p>
          <a:p>
            <a:pPr marL="342900" indent="-342900">
              <a:spcAft>
                <a:spcPts val="1200"/>
              </a:spcAft>
              <a:buSzPct val="100000"/>
              <a:buChar char="•"/>
            </a:pPr>
            <a:r>
              <a:rPr lang="en-US" sz="2000" dirty="0">
                <a:solidFill>
                  <a:schemeClr val="tx1"/>
                </a:solidFill>
              </a:rPr>
              <a:t>Fixed, predictable rules: no guessing, no AI deciding</a:t>
            </a:r>
            <a:endParaRPr lang="en-US" sz="2000" dirty="0"/>
          </a:p>
          <a:p>
            <a:pPr marL="342900" indent="-342900">
              <a:spcAft>
                <a:spcPts val="1200"/>
              </a:spcAft>
              <a:buSzPct val="100000"/>
              <a:buChar char="•"/>
            </a:pPr>
            <a:r>
              <a:rPr lang="en-US" sz="2000" dirty="0">
                <a:solidFill>
                  <a:schemeClr val="tx1"/>
                </a:solidFill>
              </a:rPr>
              <a:t>Clear messages and a record of every decision</a:t>
            </a:r>
            <a:endParaRPr lang="en-US" sz="2000" dirty="0"/>
          </a:p>
        </p:txBody>
      </p:sp>
      <p:sp>
        <p:nvSpPr>
          <p:cNvPr id="8" name="Card"/>
          <p:cNvSpPr/>
          <p:nvPr/>
        </p:nvSpPr>
        <p:spPr>
          <a:xfrm>
            <a:off x="6199632" y="2103120"/>
            <a:ext cx="5440680" cy="3291840"/>
          </a:xfrm>
          <a:prstGeom prst="roundRect">
            <a:avLst>
              <a:gd name="adj" fmla="val 3333"/>
            </a:avLst>
          </a:prstGeom>
          <a:solidFill>
            <a:srgbClr val="FEF2F2"/>
          </a:solidFill>
          <a:ln w="9525">
            <a:solidFill>
              <a:srgbClr val="FECACA"/>
            </a:solidFill>
            <a:prstDash val="solid"/>
          </a:ln>
        </p:spPr>
      </p:sp>
      <p:sp>
        <p:nvSpPr>
          <p:cNvPr id="9" name="Text 6"/>
          <p:cNvSpPr txBox="1"/>
          <p:nvPr/>
        </p:nvSpPr>
        <p:spPr>
          <a:xfrm>
            <a:off x="6565392" y="2377440"/>
            <a:ext cx="4709160" cy="457200"/>
          </a:xfrm>
          <a:prstGeom prst="rect">
            <a:avLst/>
          </a:prstGeom>
          <a:noFill/>
          <a:ln/>
        </p:spPr>
        <p:txBody>
          <a:bodyPr wrap="square" lIns="0" tIns="0" rIns="0" bIns="0" rtlCol="0" anchor="t"/>
          <a:lstStyle/>
          <a:p>
            <a:pPr indent="0" marL="0">
              <a:buNone/>
            </a:pPr>
            <a:r>
              <a:rPr lang="en-US" sz="2800" b="1" dirty="0">
                <a:solidFill>
                  <a:schemeClr val="accent4"/>
                </a:solidFill>
              </a:rPr>
              <a:t>DevGuard is not</a:t>
            </a:r>
            <a:endParaRPr lang="en-US" sz="2800" dirty="0"/>
          </a:p>
        </p:txBody>
      </p:sp>
      <p:sp>
        <p:nvSpPr>
          <p:cNvPr id="10" name="Text 7"/>
          <p:cNvSpPr txBox="1"/>
          <p:nvPr/>
        </p:nvSpPr>
        <p:spPr>
          <a:xfrm>
            <a:off x="6565392" y="3017520"/>
            <a:ext cx="4709160" cy="219456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chemeClr val="tx1"/>
                </a:solidFill>
              </a:rPr>
              <a:t>A monitor of everything employees do</a:t>
            </a:r>
            <a:endParaRPr lang="en-US" sz="2000" dirty="0"/>
          </a:p>
          <a:p>
            <a:pPr marL="342900" indent="-342900">
              <a:spcAft>
                <a:spcPts val="1200"/>
              </a:spcAft>
              <a:buSzPct val="100000"/>
              <a:buChar char="•"/>
            </a:pPr>
            <a:r>
              <a:rPr lang="en-US" sz="2000" dirty="0">
                <a:solidFill>
                  <a:schemeClr val="tx1"/>
                </a:solidFill>
              </a:rPr>
              <a:t>Complete data-loss prevention</a:t>
            </a:r>
            <a:endParaRPr lang="en-US" sz="2000" dirty="0"/>
          </a:p>
          <a:p>
            <a:pPr marL="342900" indent="-342900">
              <a:spcAft>
                <a:spcPts val="1200"/>
              </a:spcAft>
              <a:buSzPct val="100000"/>
              <a:buChar char="•"/>
            </a:pPr>
            <a:r>
              <a:rPr lang="en-US" sz="2000" dirty="0">
                <a:solidFill>
                  <a:schemeClr val="tx1"/>
                </a:solidFill>
              </a:rPr>
              <a:t>Tamper-proof: a determined person can bypass a local hook</a:t>
            </a:r>
            <a:endParaRPr lang="en-US" sz="20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Eyebrow"/>
          <p:cNvSpPr txBox="1"/>
          <p:nvPr/>
        </p:nvSpPr>
        <p:spPr>
          <a:xfrm>
            <a:off x="548640" y="438912"/>
            <a:ext cx="11091672"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THE THREE PARTS</a:t>
            </a:r>
            <a:endParaRPr lang="en-US" sz="1200" dirty="0"/>
          </a:p>
        </p:txBody>
      </p:sp>
      <p:sp>
        <p:nvSpPr>
          <p:cNvPr id="4" name="Text 0"/>
          <p:cNvSpPr/>
          <p:nvPr>
            <p:ph idx="100" type="title" hasCustomPrompt="1"/>
          </p:nvPr>
        </p:nvSpPr>
        <p:spPr>
          <a:xfrm>
            <a:off x="548640" y="777240"/>
            <a:ext cx="11091672" cy="1051560"/>
          </a:xfrm>
          <a:prstGeom prst="rect">
            <a:avLst/>
          </a:prstGeom>
          <a:noFill/>
          <a:ln/>
        </p:spPr>
        <p:txBody>
          <a:bodyPr wrap="square" lIns="0" tIns="0" rIns="0" bIns="0" rtlCol="0" anchor="t"/>
          <a:lstStyle/>
          <a:p>
            <a:pPr algn="l" indent="0" marL="0">
              <a:buNone/>
            </a:pPr>
            <a:r>
              <a:rPr lang="en-US" sz="3400" b="1" dirty="0">
                <a:solidFill>
                  <a:schemeClr val="tx1"/>
                </a:solidFill>
              </a:rPr>
              <a:t>Three programs, one job each</a:t>
            </a:r>
            <a:endParaRPr lang="en-US" sz="3400" dirty="0"/>
          </a:p>
        </p:txBody>
      </p:sp>
      <p:sp>
        <p:nvSpPr>
          <p:cNvPr id="5" name="Card"/>
          <p:cNvSpPr/>
          <p:nvPr/>
        </p:nvSpPr>
        <p:spPr>
          <a:xfrm>
            <a:off x="548640" y="2103120"/>
            <a:ext cx="3566160" cy="3749040"/>
          </a:xfrm>
          <a:prstGeom prst="roundRect">
            <a:avLst>
              <a:gd name="adj" fmla="val 3077"/>
            </a:avLst>
          </a:prstGeom>
          <a:solidFill>
            <a:schemeClr val="bg1"/>
          </a:solidFill>
          <a:ln w="9525">
            <a:solidFill>
              <a:srgbClr val="E2E8F0"/>
            </a:solidFill>
            <a:prstDash val="solid"/>
          </a:ln>
          <a:effectLst>
            <a:outerShdw sx="100000" sy="100000" kx="0" ky="0" algn="bl" rotWithShape="0" blurRad="101600" dist="25400" dir="5400000">
              <a:srgbClr val="000000">
                <a:alpha val="7000"/>
              </a:srgbClr>
            </a:outerShdw>
          </a:effectLst>
        </p:spPr>
      </p:sp>
      <p:sp>
        <p:nvSpPr>
          <p:cNvPr id="6" name="Badge 1"/>
          <p:cNvSpPr/>
          <p:nvPr/>
        </p:nvSpPr>
        <p:spPr>
          <a:xfrm>
            <a:off x="822960" y="237744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463040" y="2487168"/>
            <a:ext cx="246888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LAPTOP AGENT</a:t>
            </a:r>
            <a:endParaRPr lang="en-US" sz="1200" dirty="0"/>
          </a:p>
        </p:txBody>
      </p:sp>
      <p:sp>
        <p:nvSpPr>
          <p:cNvPr id="8" name="Text 5"/>
          <p:cNvSpPr txBox="1"/>
          <p:nvPr/>
        </p:nvSpPr>
        <p:spPr>
          <a:xfrm>
            <a:off x="822960" y="3108960"/>
            <a:ext cx="3017520" cy="868680"/>
          </a:xfrm>
          <a:prstGeom prst="rect">
            <a:avLst/>
          </a:prstGeom>
          <a:noFill/>
          <a:ln/>
        </p:spPr>
        <p:txBody>
          <a:bodyPr wrap="square" lIns="0" tIns="0" rIns="0" bIns="0" rtlCol="0" anchor="t"/>
          <a:lstStyle/>
          <a:p>
            <a:pPr indent="0" marL="0">
              <a:buNone/>
            </a:pPr>
            <a:r>
              <a:rPr lang="en-US" sz="2600" b="1" dirty="0">
                <a:solidFill>
                  <a:schemeClr val="tx1"/>
                </a:solidFill>
              </a:rPr>
              <a:t>Enforces</a:t>
            </a:r>
            <a:endParaRPr lang="en-US" sz="2600" dirty="0"/>
          </a:p>
        </p:txBody>
      </p:sp>
      <p:sp>
        <p:nvSpPr>
          <p:cNvPr id="9" name="Text 6"/>
          <p:cNvSpPr txBox="1"/>
          <p:nvPr/>
        </p:nvSpPr>
        <p:spPr>
          <a:xfrm>
            <a:off x="822960" y="4069080"/>
            <a:ext cx="3017520" cy="1097280"/>
          </a:xfrm>
          <a:prstGeom prst="rect">
            <a:avLst/>
          </a:prstGeom>
          <a:noFill/>
          <a:ln/>
        </p:spPr>
        <p:txBody>
          <a:bodyPr wrap="square" lIns="0" tIns="0" rIns="0" bIns="0" rtlCol="0" anchor="t"/>
          <a:lstStyle/>
          <a:p>
            <a:pPr indent="0" marL="0">
              <a:buNone/>
            </a:pPr>
            <a:r>
              <a:rPr lang="en-US" sz="1800" dirty="0">
                <a:solidFill>
                  <a:schemeClr val="accent6"/>
                </a:solidFill>
              </a:rPr>
              <a:t>Sits in Git on each laptop and decides allow or block at push time.</a:t>
            </a:r>
            <a:endParaRPr lang="en-US" sz="1800" dirty="0"/>
          </a:p>
        </p:txBody>
      </p:sp>
      <p:sp>
        <p:nvSpPr>
          <p:cNvPr id="10" name="Text 7"/>
          <p:cNvSpPr txBox="1"/>
          <p:nvPr/>
        </p:nvSpPr>
        <p:spPr>
          <a:xfrm>
            <a:off x="822960" y="5303520"/>
            <a:ext cx="3017520" cy="411480"/>
          </a:xfrm>
          <a:prstGeom prst="rect">
            <a:avLst/>
          </a:prstGeom>
          <a:noFill/>
          <a:ln/>
        </p:spPr>
        <p:txBody>
          <a:bodyPr wrap="square" lIns="0" tIns="0" rIns="0" bIns="0" rtlCol="0" anchor="t"/>
          <a:lstStyle/>
          <a:p>
            <a:pPr indent="0" marL="0">
              <a:buNone/>
            </a:pPr>
            <a:r>
              <a:rPr lang="en-US" sz="1300" dirty="0">
                <a:solidFill>
                  <a:srgbClr val="64748B"/>
                </a:solidFill>
              </a:rPr>
              <a:t>Used by developers · Node.js CLI</a:t>
            </a:r>
            <a:endParaRPr lang="en-US" sz="1300" dirty="0"/>
          </a:p>
        </p:txBody>
      </p:sp>
      <p:sp>
        <p:nvSpPr>
          <p:cNvPr id="11" name="Card"/>
          <p:cNvSpPr/>
          <p:nvPr/>
        </p:nvSpPr>
        <p:spPr>
          <a:xfrm>
            <a:off x="4311396" y="2103120"/>
            <a:ext cx="3566160" cy="3749040"/>
          </a:xfrm>
          <a:prstGeom prst="roundRect">
            <a:avLst>
              <a:gd name="adj" fmla="val 3077"/>
            </a:avLst>
          </a:prstGeom>
          <a:solidFill>
            <a:schemeClr val="bg1"/>
          </a:solidFill>
          <a:ln w="9525">
            <a:solidFill>
              <a:srgbClr val="E2E8F0"/>
            </a:solidFill>
            <a:prstDash val="solid"/>
          </a:ln>
          <a:effectLst>
            <a:outerShdw sx="100000" sy="100000" kx="0" ky="0" algn="bl" rotWithShape="0" blurRad="101600" dist="25400" dir="5400000">
              <a:srgbClr val="000000">
                <a:alpha val="7000"/>
              </a:srgbClr>
            </a:outerShdw>
          </a:effectLst>
        </p:spPr>
      </p:sp>
      <p:sp>
        <p:nvSpPr>
          <p:cNvPr id="12" name="Badge 2"/>
          <p:cNvSpPr/>
          <p:nvPr/>
        </p:nvSpPr>
        <p:spPr>
          <a:xfrm>
            <a:off x="4585716" y="2377440"/>
            <a:ext cx="502920" cy="50292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0"/>
          <p:cNvSpPr txBox="1"/>
          <p:nvPr/>
        </p:nvSpPr>
        <p:spPr>
          <a:xfrm>
            <a:off x="5225796" y="2487168"/>
            <a:ext cx="246888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CONTROL SERVER (API)</a:t>
            </a:r>
            <a:endParaRPr lang="en-US" sz="1200" dirty="0"/>
          </a:p>
        </p:txBody>
      </p:sp>
      <p:sp>
        <p:nvSpPr>
          <p:cNvPr id="14" name="Text 11"/>
          <p:cNvSpPr txBox="1"/>
          <p:nvPr/>
        </p:nvSpPr>
        <p:spPr>
          <a:xfrm>
            <a:off x="4585716" y="3108960"/>
            <a:ext cx="3017520" cy="868680"/>
          </a:xfrm>
          <a:prstGeom prst="rect">
            <a:avLst/>
          </a:prstGeom>
          <a:noFill/>
          <a:ln/>
        </p:spPr>
        <p:txBody>
          <a:bodyPr wrap="square" lIns="0" tIns="0" rIns="0" bIns="0" rtlCol="0" anchor="t"/>
          <a:lstStyle/>
          <a:p>
            <a:pPr indent="0" marL="0">
              <a:buNone/>
            </a:pPr>
            <a:r>
              <a:rPr lang="en-US" sz="2600" b="1" dirty="0">
                <a:solidFill>
                  <a:schemeClr val="tx1"/>
                </a:solidFill>
              </a:rPr>
              <a:t>Decides and remembers</a:t>
            </a:r>
            <a:endParaRPr lang="en-US" sz="2600" dirty="0"/>
          </a:p>
        </p:txBody>
      </p:sp>
      <p:sp>
        <p:nvSpPr>
          <p:cNvPr id="15" name="Text 12"/>
          <p:cNvSpPr txBox="1"/>
          <p:nvPr/>
        </p:nvSpPr>
        <p:spPr>
          <a:xfrm>
            <a:off x="4585716" y="4069080"/>
            <a:ext cx="3017520" cy="1097280"/>
          </a:xfrm>
          <a:prstGeom prst="rect">
            <a:avLst/>
          </a:prstGeom>
          <a:noFill/>
          <a:ln/>
        </p:spPr>
        <p:txBody>
          <a:bodyPr wrap="square" lIns="0" tIns="0" rIns="0" bIns="0" rtlCol="0" anchor="t"/>
          <a:lstStyle/>
          <a:p>
            <a:pPr indent="0" marL="0">
              <a:buNone/>
            </a:pPr>
            <a:r>
              <a:rPr lang="en-US" sz="1800" dirty="0">
                <a:solidFill>
                  <a:schemeClr val="accent6"/>
                </a:solidFill>
              </a:rPr>
              <a:t>Holds the rules, people, approvals, events and the audit history.</a:t>
            </a:r>
            <a:endParaRPr lang="en-US" sz="1800" dirty="0"/>
          </a:p>
        </p:txBody>
      </p:sp>
      <p:sp>
        <p:nvSpPr>
          <p:cNvPr id="16" name="Text 13"/>
          <p:cNvSpPr txBox="1"/>
          <p:nvPr/>
        </p:nvSpPr>
        <p:spPr>
          <a:xfrm>
            <a:off x="4585716" y="5303520"/>
            <a:ext cx="3017520" cy="411480"/>
          </a:xfrm>
          <a:prstGeom prst="rect">
            <a:avLst/>
          </a:prstGeom>
          <a:noFill/>
          <a:ln/>
        </p:spPr>
        <p:txBody>
          <a:bodyPr wrap="square" lIns="0" tIns="0" rIns="0" bIns="0" rtlCol="0" anchor="t"/>
          <a:lstStyle/>
          <a:p>
            <a:pPr indent="0" marL="0">
              <a:buNone/>
            </a:pPr>
            <a:r>
              <a:rPr lang="en-US" sz="1300" dirty="0">
                <a:solidFill>
                  <a:srgbClr val="64748B"/>
                </a:solidFill>
              </a:rPr>
              <a:t>Used by the other two · NestJS, PostgreSQL</a:t>
            </a:r>
            <a:endParaRPr lang="en-US" sz="1300" dirty="0"/>
          </a:p>
        </p:txBody>
      </p:sp>
      <p:sp>
        <p:nvSpPr>
          <p:cNvPr id="17" name="Card"/>
          <p:cNvSpPr/>
          <p:nvPr/>
        </p:nvSpPr>
        <p:spPr>
          <a:xfrm>
            <a:off x="8074152" y="2103120"/>
            <a:ext cx="3566160" cy="3749040"/>
          </a:xfrm>
          <a:prstGeom prst="roundRect">
            <a:avLst>
              <a:gd name="adj" fmla="val 3077"/>
            </a:avLst>
          </a:prstGeom>
          <a:solidFill>
            <a:schemeClr val="bg1"/>
          </a:solidFill>
          <a:ln w="9525">
            <a:solidFill>
              <a:srgbClr val="E2E8F0"/>
            </a:solidFill>
            <a:prstDash val="solid"/>
          </a:ln>
          <a:effectLst>
            <a:outerShdw sx="100000" sy="100000" kx="0" ky="0" algn="bl" rotWithShape="0" blurRad="101600" dist="25400" dir="5400000">
              <a:srgbClr val="000000">
                <a:alpha val="7000"/>
              </a:srgbClr>
            </a:outerShdw>
          </a:effectLst>
        </p:spPr>
      </p:sp>
      <p:sp>
        <p:nvSpPr>
          <p:cNvPr id="18" name="Badge 3"/>
          <p:cNvSpPr/>
          <p:nvPr/>
        </p:nvSpPr>
        <p:spPr>
          <a:xfrm>
            <a:off x="8348472" y="2377440"/>
            <a:ext cx="502920" cy="502920"/>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9" name="Text 16"/>
          <p:cNvSpPr txBox="1"/>
          <p:nvPr/>
        </p:nvSpPr>
        <p:spPr>
          <a:xfrm>
            <a:off x="8988552" y="2487168"/>
            <a:ext cx="246888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DASHBOARD</a:t>
            </a:r>
            <a:endParaRPr lang="en-US" sz="1200" dirty="0"/>
          </a:p>
        </p:txBody>
      </p:sp>
      <p:sp>
        <p:nvSpPr>
          <p:cNvPr id="20" name="Text 17"/>
          <p:cNvSpPr txBox="1"/>
          <p:nvPr/>
        </p:nvSpPr>
        <p:spPr>
          <a:xfrm>
            <a:off x="8348472" y="3108960"/>
            <a:ext cx="3017520" cy="868680"/>
          </a:xfrm>
          <a:prstGeom prst="rect">
            <a:avLst/>
          </a:prstGeom>
          <a:noFill/>
          <a:ln/>
        </p:spPr>
        <p:txBody>
          <a:bodyPr wrap="square" lIns="0" tIns="0" rIns="0" bIns="0" rtlCol="0" anchor="t"/>
          <a:lstStyle/>
          <a:p>
            <a:pPr indent="0" marL="0">
              <a:buNone/>
            </a:pPr>
            <a:r>
              <a:rPr lang="en-US" sz="2600" b="1" dirty="0">
                <a:solidFill>
                  <a:schemeClr val="tx1"/>
                </a:solidFill>
              </a:rPr>
              <a:t>Shows and controls</a:t>
            </a:r>
            <a:endParaRPr lang="en-US" sz="2600" dirty="0"/>
          </a:p>
        </p:txBody>
      </p:sp>
      <p:sp>
        <p:nvSpPr>
          <p:cNvPr id="21" name="Text 18"/>
          <p:cNvSpPr txBox="1"/>
          <p:nvPr/>
        </p:nvSpPr>
        <p:spPr>
          <a:xfrm>
            <a:off x="8348472" y="4069080"/>
            <a:ext cx="3017520" cy="1097280"/>
          </a:xfrm>
          <a:prstGeom prst="rect">
            <a:avLst/>
          </a:prstGeom>
          <a:noFill/>
          <a:ln/>
        </p:spPr>
        <p:txBody>
          <a:bodyPr wrap="square" lIns="0" tIns="0" rIns="0" bIns="0" rtlCol="0" anchor="t"/>
          <a:lstStyle/>
          <a:p>
            <a:pPr indent="0" marL="0">
              <a:buNone/>
            </a:pPr>
            <a:r>
              <a:rPr lang="en-US" sz="1800" dirty="0">
                <a:solidFill>
                  <a:schemeClr val="accent6"/>
                </a:solidFill>
              </a:rPr>
              <a:t>Where administrators set rules and review what happened.</a:t>
            </a:r>
            <a:endParaRPr lang="en-US" sz="1800" dirty="0"/>
          </a:p>
        </p:txBody>
      </p:sp>
      <p:sp>
        <p:nvSpPr>
          <p:cNvPr id="22" name="Text 19"/>
          <p:cNvSpPr txBox="1"/>
          <p:nvPr/>
        </p:nvSpPr>
        <p:spPr>
          <a:xfrm>
            <a:off x="8348472" y="5303520"/>
            <a:ext cx="3017520" cy="411480"/>
          </a:xfrm>
          <a:prstGeom prst="rect">
            <a:avLst/>
          </a:prstGeom>
          <a:noFill/>
          <a:ln/>
        </p:spPr>
        <p:txBody>
          <a:bodyPr wrap="square" lIns="0" tIns="0" rIns="0" bIns="0" rtlCol="0" anchor="t"/>
          <a:lstStyle/>
          <a:p>
            <a:pPr indent="0" marL="0">
              <a:buNone/>
            </a:pPr>
            <a:r>
              <a:rPr lang="en-US" sz="1300" dirty="0">
                <a:solidFill>
                  <a:srgbClr val="64748B"/>
                </a:solidFill>
              </a:rPr>
              <a:t>Used by administrators · React, Vite</a:t>
            </a:r>
            <a:endParaRPr lang="en-US" sz="13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Eyebrow"/>
          <p:cNvSpPr txBox="1"/>
          <p:nvPr/>
        </p:nvSpPr>
        <p:spPr>
          <a:xfrm>
            <a:off x="548640" y="438912"/>
            <a:ext cx="11091672"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HOW THEY FIT TOGETHER</a:t>
            </a:r>
            <a:endParaRPr lang="en-US" sz="1200" dirty="0"/>
          </a:p>
        </p:txBody>
      </p:sp>
      <p:sp>
        <p:nvSpPr>
          <p:cNvPr id="4" name="Text 0"/>
          <p:cNvSpPr/>
          <p:nvPr>
            <p:ph idx="100" type="title" hasCustomPrompt="1"/>
          </p:nvPr>
        </p:nvSpPr>
        <p:spPr>
          <a:xfrm>
            <a:off x="548640" y="777240"/>
            <a:ext cx="11091672" cy="1051560"/>
          </a:xfrm>
          <a:prstGeom prst="rect">
            <a:avLst/>
          </a:prstGeom>
          <a:noFill/>
          <a:ln/>
        </p:spPr>
        <p:txBody>
          <a:bodyPr wrap="square" lIns="0" tIns="0" rIns="0" bIns="0" rtlCol="0" anchor="t"/>
          <a:lstStyle/>
          <a:p>
            <a:pPr algn="l" indent="0" marL="0">
              <a:buNone/>
            </a:pPr>
            <a:r>
              <a:rPr lang="en-US" sz="3400" b="1" dirty="0">
                <a:solidFill>
                  <a:schemeClr val="tx1"/>
                </a:solidFill>
              </a:rPr>
              <a:t>Everything goes through the API</a:t>
            </a:r>
            <a:endParaRPr lang="en-US" sz="3400" dirty="0"/>
          </a:p>
        </p:txBody>
      </p:sp>
      <p:sp>
        <p:nvSpPr>
          <p:cNvPr id="5" name="Card"/>
          <p:cNvSpPr/>
          <p:nvPr/>
        </p:nvSpPr>
        <p:spPr>
          <a:xfrm>
            <a:off x="548640" y="2057400"/>
            <a:ext cx="3154680" cy="3108960"/>
          </a:xfrm>
          <a:prstGeom prst="roundRect">
            <a:avLst>
              <a:gd name="adj" fmla="val 3529"/>
            </a:avLst>
          </a:prstGeom>
          <a:solidFill>
            <a:srgbClr val="EEF2FF"/>
          </a:solidFill>
          <a:ln w="9525">
            <a:solidFill>
              <a:srgbClr val="CBD5E1"/>
            </a:solidFill>
            <a:prstDash val="solid"/>
          </a:ln>
        </p:spPr>
      </p:sp>
      <p:sp>
        <p:nvSpPr>
          <p:cNvPr id="6" name="Text 3"/>
          <p:cNvSpPr txBox="1"/>
          <p:nvPr/>
        </p:nvSpPr>
        <p:spPr>
          <a:xfrm>
            <a:off x="822960" y="2240280"/>
            <a:ext cx="2606040" cy="411480"/>
          </a:xfrm>
          <a:prstGeom prst="rect">
            <a:avLst/>
          </a:prstGeom>
          <a:noFill/>
          <a:ln/>
        </p:spPr>
        <p:txBody>
          <a:bodyPr wrap="square" lIns="0" tIns="0" rIns="0" bIns="0" rtlCol="0" anchor="t"/>
          <a:lstStyle/>
          <a:p>
            <a:pPr indent="0" marL="0">
              <a:buNone/>
            </a:pPr>
            <a:r>
              <a:rPr lang="en-US" sz="2200" b="1" dirty="0">
                <a:solidFill>
                  <a:schemeClr val="accent1"/>
                </a:solidFill>
              </a:rPr>
              <a:t>Laptop agent</a:t>
            </a:r>
            <a:endParaRPr lang="en-US" sz="2200" dirty="0"/>
          </a:p>
        </p:txBody>
      </p:sp>
      <p:sp>
        <p:nvSpPr>
          <p:cNvPr id="7" name="Text 4"/>
          <p:cNvSpPr txBox="1"/>
          <p:nvPr/>
        </p:nvSpPr>
        <p:spPr>
          <a:xfrm>
            <a:off x="822960" y="2670048"/>
            <a:ext cx="2606040" cy="274320"/>
          </a:xfrm>
          <a:prstGeom prst="rect">
            <a:avLst/>
          </a:prstGeom>
          <a:noFill/>
          <a:ln/>
        </p:spPr>
        <p:txBody>
          <a:bodyPr wrap="square" lIns="0" tIns="0" rIns="0" bIns="0" rtlCol="0" anchor="t"/>
          <a:lstStyle/>
          <a:p>
            <a:pPr indent="0" marL="0">
              <a:buNone/>
            </a:pPr>
            <a:r>
              <a:rPr lang="en-US" sz="1300" dirty="0">
                <a:solidFill>
                  <a:schemeClr val="accent6"/>
                </a:solidFill>
              </a:rPr>
              <a:t>on every developer laptop</a:t>
            </a:r>
            <a:endParaRPr lang="en-US" sz="1300" dirty="0"/>
          </a:p>
        </p:txBody>
      </p:sp>
      <p:sp>
        <p:nvSpPr>
          <p:cNvPr id="8" name="Text 5"/>
          <p:cNvSpPr/>
          <p:nvPr/>
        </p:nvSpPr>
        <p:spPr>
          <a:xfrm>
            <a:off x="822960" y="3108960"/>
            <a:ext cx="2606040" cy="502920"/>
          </a:xfrm>
          <a:prstGeom prst="roundRect">
            <a:avLst>
              <a:gd name="adj" fmla="val 14545"/>
            </a:avLst>
          </a:prstGeom>
          <a:solidFill>
            <a:schemeClr val="bg1"/>
          </a:solidFill>
          <a:ln w="6350">
            <a:solidFill>
              <a:srgbClr val="CBD5E1"/>
            </a:solidFill>
          </a:ln>
        </p:spPr>
        <p:txBody>
          <a:bodyPr wrap="square" lIns="0" tIns="1778" rIns="1778" bIns="0" rtlCol="0" anchor="ctr"/>
          <a:lstStyle/>
          <a:p>
            <a:pPr indent="0" marL="0">
              <a:buNone/>
            </a:pPr>
            <a:r>
              <a:rPr lang="en-US" sz="1500" dirty="0">
                <a:solidFill>
                  <a:schemeClr val="tx1"/>
                </a:solidFill>
              </a:rPr>
              <a:t>git push</a:t>
            </a:r>
            <a:endParaRPr lang="en-US" sz="1500" dirty="0"/>
          </a:p>
        </p:txBody>
      </p:sp>
      <p:sp>
        <p:nvSpPr>
          <p:cNvPr id="9" name="Text 6"/>
          <p:cNvSpPr/>
          <p:nvPr/>
        </p:nvSpPr>
        <p:spPr>
          <a:xfrm>
            <a:off x="822960" y="3749040"/>
            <a:ext cx="2606040" cy="502920"/>
          </a:xfrm>
          <a:prstGeom prst="roundRect">
            <a:avLst>
              <a:gd name="adj" fmla="val 14545"/>
            </a:avLst>
          </a:prstGeom>
          <a:solidFill>
            <a:schemeClr val="accent1"/>
          </a:solidFill>
          <a:ln w="6350">
            <a:solidFill>
              <a:srgbClr val="CBD5E1"/>
            </a:solidFill>
          </a:ln>
        </p:spPr>
        <p:txBody>
          <a:bodyPr wrap="square" lIns="0" tIns="1778" rIns="1778" bIns="0" rtlCol="0" anchor="ctr"/>
          <a:lstStyle/>
          <a:p>
            <a:pPr indent="0" marL="0">
              <a:buNone/>
            </a:pPr>
            <a:r>
              <a:rPr lang="en-US" sz="1500" b="1" dirty="0">
                <a:solidFill>
                  <a:schemeClr val="bg1"/>
                </a:solidFill>
              </a:rPr>
              <a:t>pre-push check</a:t>
            </a:r>
            <a:endParaRPr lang="en-US" sz="1500" dirty="0"/>
          </a:p>
        </p:txBody>
      </p:sp>
      <p:sp>
        <p:nvSpPr>
          <p:cNvPr id="10" name="Text 7"/>
          <p:cNvSpPr/>
          <p:nvPr/>
        </p:nvSpPr>
        <p:spPr>
          <a:xfrm>
            <a:off x="822960" y="4389120"/>
            <a:ext cx="2606040" cy="502920"/>
          </a:xfrm>
          <a:prstGeom prst="roundRect">
            <a:avLst>
              <a:gd name="adj" fmla="val 14545"/>
            </a:avLst>
          </a:prstGeom>
          <a:solidFill>
            <a:schemeClr val="bg1"/>
          </a:solidFill>
          <a:ln w="6350">
            <a:solidFill>
              <a:srgbClr val="CBD5E1"/>
            </a:solidFill>
          </a:ln>
        </p:spPr>
        <p:txBody>
          <a:bodyPr wrap="square" lIns="0" tIns="1778" rIns="1778" bIns="0" rtlCol="0" anchor="ctr"/>
          <a:lstStyle/>
          <a:p>
            <a:pPr indent="0" marL="0">
              <a:buNone/>
            </a:pPr>
            <a:r>
              <a:rPr lang="en-US" sz="1500" dirty="0">
                <a:solidFill>
                  <a:schemeClr val="tx1"/>
                </a:solidFill>
              </a:rPr>
              <a:t>allow, or block with a reason</a:t>
            </a:r>
            <a:endParaRPr lang="en-US" sz="1500" dirty="0"/>
          </a:p>
        </p:txBody>
      </p:sp>
      <p:sp>
        <p:nvSpPr>
          <p:cNvPr id="11" name="Card"/>
          <p:cNvSpPr/>
          <p:nvPr/>
        </p:nvSpPr>
        <p:spPr>
          <a:xfrm>
            <a:off x="4517136" y="2057400"/>
            <a:ext cx="3154680" cy="3108960"/>
          </a:xfrm>
          <a:prstGeom prst="roundRect">
            <a:avLst>
              <a:gd name="adj" fmla="val 3529"/>
            </a:avLst>
          </a:prstGeom>
          <a:solidFill>
            <a:srgbClr val="F0FDFA"/>
          </a:solidFill>
          <a:ln w="9525">
            <a:solidFill>
              <a:srgbClr val="CBD5E1"/>
            </a:solidFill>
            <a:prstDash val="solid"/>
          </a:ln>
        </p:spPr>
      </p:sp>
      <p:sp>
        <p:nvSpPr>
          <p:cNvPr id="12" name="Text 9"/>
          <p:cNvSpPr txBox="1"/>
          <p:nvPr/>
        </p:nvSpPr>
        <p:spPr>
          <a:xfrm>
            <a:off x="4791456" y="2240280"/>
            <a:ext cx="2606040" cy="411480"/>
          </a:xfrm>
          <a:prstGeom prst="rect">
            <a:avLst/>
          </a:prstGeom>
          <a:noFill/>
          <a:ln/>
        </p:spPr>
        <p:txBody>
          <a:bodyPr wrap="square" lIns="0" tIns="0" rIns="0" bIns="0" rtlCol="0" anchor="t"/>
          <a:lstStyle/>
          <a:p>
            <a:pPr indent="0" marL="0">
              <a:buNone/>
            </a:pPr>
            <a:r>
              <a:rPr lang="en-US" sz="2200" b="1" dirty="0">
                <a:solidFill>
                  <a:schemeClr val="accent2"/>
                </a:solidFill>
              </a:rPr>
              <a:t>Control server</a:t>
            </a:r>
            <a:endParaRPr lang="en-US" sz="2200" dirty="0"/>
          </a:p>
        </p:txBody>
      </p:sp>
      <p:sp>
        <p:nvSpPr>
          <p:cNvPr id="13" name="Text 10"/>
          <p:cNvSpPr txBox="1"/>
          <p:nvPr/>
        </p:nvSpPr>
        <p:spPr>
          <a:xfrm>
            <a:off x="4791456" y="2670048"/>
            <a:ext cx="2606040" cy="274320"/>
          </a:xfrm>
          <a:prstGeom prst="rect">
            <a:avLst/>
          </a:prstGeom>
          <a:noFill/>
          <a:ln/>
        </p:spPr>
        <p:txBody>
          <a:bodyPr wrap="square" lIns="0" tIns="0" rIns="0" bIns="0" rtlCol="0" anchor="t"/>
          <a:lstStyle/>
          <a:p>
            <a:pPr indent="0" marL="0">
              <a:buNone/>
            </a:pPr>
            <a:r>
              <a:rPr lang="en-US" sz="1300" dirty="0">
                <a:solidFill>
                  <a:schemeClr val="accent6"/>
                </a:solidFill>
              </a:rPr>
              <a:t>the single source of truth</a:t>
            </a:r>
            <a:endParaRPr lang="en-US" sz="1300" dirty="0"/>
          </a:p>
        </p:txBody>
      </p:sp>
      <p:sp>
        <p:nvSpPr>
          <p:cNvPr id="14" name="Text 11"/>
          <p:cNvSpPr/>
          <p:nvPr/>
        </p:nvSpPr>
        <p:spPr>
          <a:xfrm>
            <a:off x="4791456" y="3108960"/>
            <a:ext cx="2606040" cy="502920"/>
          </a:xfrm>
          <a:prstGeom prst="roundRect">
            <a:avLst>
              <a:gd name="adj" fmla="val 14545"/>
            </a:avLst>
          </a:prstGeom>
          <a:solidFill>
            <a:schemeClr val="bg1"/>
          </a:solidFill>
          <a:ln w="6350">
            <a:solidFill>
              <a:srgbClr val="CBD5E1"/>
            </a:solidFill>
          </a:ln>
        </p:spPr>
        <p:txBody>
          <a:bodyPr wrap="square" lIns="0" tIns="1778" rIns="1778" bIns="0" rtlCol="0" anchor="ctr"/>
          <a:lstStyle/>
          <a:p>
            <a:pPr indent="0" marL="0">
              <a:buNone/>
            </a:pPr>
            <a:r>
              <a:rPr lang="en-US" sz="1500" dirty="0">
                <a:solidFill>
                  <a:schemeClr val="tx1"/>
                </a:solidFill>
              </a:rPr>
              <a:t>rules, people, approvals</a:t>
            </a:r>
            <a:endParaRPr lang="en-US" sz="1500" dirty="0"/>
          </a:p>
        </p:txBody>
      </p:sp>
      <p:sp>
        <p:nvSpPr>
          <p:cNvPr id="15" name="Text 12"/>
          <p:cNvSpPr/>
          <p:nvPr/>
        </p:nvSpPr>
        <p:spPr>
          <a:xfrm>
            <a:off x="4791456" y="3749040"/>
            <a:ext cx="2606040" cy="502920"/>
          </a:xfrm>
          <a:prstGeom prst="roundRect">
            <a:avLst>
              <a:gd name="adj" fmla="val 14545"/>
            </a:avLst>
          </a:prstGeom>
          <a:solidFill>
            <a:schemeClr val="bg1"/>
          </a:solidFill>
          <a:ln w="6350">
            <a:solidFill>
              <a:srgbClr val="CBD5E1"/>
            </a:solidFill>
          </a:ln>
        </p:spPr>
        <p:txBody>
          <a:bodyPr wrap="square" lIns="0" tIns="1778" rIns="1778" bIns="0" rtlCol="0" anchor="ctr"/>
          <a:lstStyle/>
          <a:p>
            <a:pPr indent="0" marL="0">
              <a:buNone/>
            </a:pPr>
            <a:r>
              <a:rPr lang="en-US" sz="1500" dirty="0">
                <a:solidFill>
                  <a:schemeClr val="tx1"/>
                </a:solidFill>
              </a:rPr>
              <a:t>events, audit history</a:t>
            </a:r>
            <a:endParaRPr lang="en-US" sz="1500" dirty="0"/>
          </a:p>
        </p:txBody>
      </p:sp>
      <p:sp>
        <p:nvSpPr>
          <p:cNvPr id="16" name="Text 13"/>
          <p:cNvSpPr/>
          <p:nvPr/>
        </p:nvSpPr>
        <p:spPr>
          <a:xfrm>
            <a:off x="4791456" y="4389120"/>
            <a:ext cx="2606040" cy="502920"/>
          </a:xfrm>
          <a:prstGeom prst="roundRect">
            <a:avLst>
              <a:gd name="adj" fmla="val 14545"/>
            </a:avLst>
          </a:prstGeom>
          <a:solidFill>
            <a:schemeClr val="bg1"/>
          </a:solidFill>
          <a:ln w="6350">
            <a:solidFill>
              <a:srgbClr val="CBD5E1"/>
            </a:solidFill>
          </a:ln>
        </p:spPr>
        <p:txBody>
          <a:bodyPr wrap="square" lIns="0" tIns="1778" rIns="1778" bIns="0" rtlCol="0" anchor="ctr"/>
          <a:lstStyle/>
          <a:p>
            <a:pPr indent="0" marL="0">
              <a:buNone/>
            </a:pPr>
            <a:r>
              <a:rPr lang="en-US" sz="1500" dirty="0">
                <a:solidFill>
                  <a:schemeClr val="tx1"/>
                </a:solidFill>
              </a:rPr>
              <a:t>email alerts · PostgreSQL</a:t>
            </a:r>
            <a:endParaRPr lang="en-US" sz="1500" dirty="0"/>
          </a:p>
        </p:txBody>
      </p:sp>
      <p:sp>
        <p:nvSpPr>
          <p:cNvPr id="17" name="Card"/>
          <p:cNvSpPr/>
          <p:nvPr/>
        </p:nvSpPr>
        <p:spPr>
          <a:xfrm>
            <a:off x="8485632" y="2057400"/>
            <a:ext cx="3154680" cy="3108960"/>
          </a:xfrm>
          <a:prstGeom prst="roundRect">
            <a:avLst>
              <a:gd name="adj" fmla="val 3529"/>
            </a:avLst>
          </a:prstGeom>
          <a:solidFill>
            <a:srgbClr val="FFFBEB"/>
          </a:solidFill>
          <a:ln w="9525">
            <a:solidFill>
              <a:srgbClr val="CBD5E1"/>
            </a:solidFill>
            <a:prstDash val="solid"/>
          </a:ln>
        </p:spPr>
      </p:sp>
      <p:sp>
        <p:nvSpPr>
          <p:cNvPr id="18" name="Text 15"/>
          <p:cNvSpPr txBox="1"/>
          <p:nvPr/>
        </p:nvSpPr>
        <p:spPr>
          <a:xfrm>
            <a:off x="8759952" y="2240280"/>
            <a:ext cx="2606040" cy="411480"/>
          </a:xfrm>
          <a:prstGeom prst="rect">
            <a:avLst/>
          </a:prstGeom>
          <a:noFill/>
          <a:ln/>
        </p:spPr>
        <p:txBody>
          <a:bodyPr wrap="square" lIns="0" tIns="0" rIns="0" bIns="0" rtlCol="0" anchor="t"/>
          <a:lstStyle/>
          <a:p>
            <a:pPr indent="0" marL="0">
              <a:buNone/>
            </a:pPr>
            <a:r>
              <a:rPr lang="en-US" sz="2200" b="1" dirty="0">
                <a:solidFill>
                  <a:schemeClr val="accent3"/>
                </a:solidFill>
              </a:rPr>
              <a:t>Dashboard</a:t>
            </a:r>
            <a:endParaRPr lang="en-US" sz="2200" dirty="0"/>
          </a:p>
        </p:txBody>
      </p:sp>
      <p:sp>
        <p:nvSpPr>
          <p:cNvPr id="19" name="Text 16"/>
          <p:cNvSpPr txBox="1"/>
          <p:nvPr/>
        </p:nvSpPr>
        <p:spPr>
          <a:xfrm>
            <a:off x="8759952" y="2670048"/>
            <a:ext cx="2606040" cy="274320"/>
          </a:xfrm>
          <a:prstGeom prst="rect">
            <a:avLst/>
          </a:prstGeom>
          <a:noFill/>
          <a:ln/>
        </p:spPr>
        <p:txBody>
          <a:bodyPr wrap="square" lIns="0" tIns="0" rIns="0" bIns="0" rtlCol="0" anchor="t"/>
          <a:lstStyle/>
          <a:p>
            <a:pPr indent="0" marL="0">
              <a:buNone/>
            </a:pPr>
            <a:r>
              <a:rPr lang="en-US" sz="1300" dirty="0">
                <a:solidFill>
                  <a:schemeClr val="accent6"/>
                </a:solidFill>
              </a:rPr>
              <a:t>web page for administrators</a:t>
            </a:r>
            <a:endParaRPr lang="en-US" sz="1300" dirty="0"/>
          </a:p>
        </p:txBody>
      </p:sp>
      <p:sp>
        <p:nvSpPr>
          <p:cNvPr id="20" name="Text 17"/>
          <p:cNvSpPr/>
          <p:nvPr/>
        </p:nvSpPr>
        <p:spPr>
          <a:xfrm>
            <a:off x="8759952" y="3108960"/>
            <a:ext cx="2606040" cy="502920"/>
          </a:xfrm>
          <a:prstGeom prst="roundRect">
            <a:avLst>
              <a:gd name="adj" fmla="val 14545"/>
            </a:avLst>
          </a:prstGeom>
          <a:solidFill>
            <a:schemeClr val="bg1"/>
          </a:solidFill>
          <a:ln w="6350">
            <a:solidFill>
              <a:srgbClr val="CBD5E1"/>
            </a:solidFill>
          </a:ln>
        </p:spPr>
        <p:txBody>
          <a:bodyPr wrap="square" lIns="0" tIns="1778" rIns="1778" bIns="0" rtlCol="0" anchor="ctr"/>
          <a:lstStyle/>
          <a:p>
            <a:pPr indent="0" marL="0">
              <a:buNone/>
            </a:pPr>
            <a:r>
              <a:rPr lang="en-US" sz="1500" dirty="0">
                <a:solidFill>
                  <a:schemeClr val="tx1"/>
                </a:solidFill>
              </a:rPr>
              <a:t>projects and policies</a:t>
            </a:r>
            <a:endParaRPr lang="en-US" sz="1500" dirty="0"/>
          </a:p>
        </p:txBody>
      </p:sp>
      <p:sp>
        <p:nvSpPr>
          <p:cNvPr id="21" name="Text 18"/>
          <p:cNvSpPr/>
          <p:nvPr/>
        </p:nvSpPr>
        <p:spPr>
          <a:xfrm>
            <a:off x="8759952" y="3749040"/>
            <a:ext cx="2606040" cy="502920"/>
          </a:xfrm>
          <a:prstGeom prst="roundRect">
            <a:avLst>
              <a:gd name="adj" fmla="val 14545"/>
            </a:avLst>
          </a:prstGeom>
          <a:solidFill>
            <a:schemeClr val="bg1"/>
          </a:solidFill>
          <a:ln w="6350">
            <a:solidFill>
              <a:srgbClr val="CBD5E1"/>
            </a:solidFill>
          </a:ln>
        </p:spPr>
        <p:txBody>
          <a:bodyPr wrap="square" lIns="0" tIns="1778" rIns="1778" bIns="0" rtlCol="0" anchor="ctr"/>
          <a:lstStyle/>
          <a:p>
            <a:pPr indent="0" marL="0">
              <a:buNone/>
            </a:pPr>
            <a:r>
              <a:rPr lang="en-US" sz="1500" dirty="0">
                <a:solidFill>
                  <a:schemeClr val="tx1"/>
                </a:solidFill>
              </a:rPr>
              <a:t>events and approvals</a:t>
            </a:r>
            <a:endParaRPr lang="en-US" sz="1500" dirty="0"/>
          </a:p>
        </p:txBody>
      </p:sp>
      <p:sp>
        <p:nvSpPr>
          <p:cNvPr id="22" name="Text 19"/>
          <p:cNvSpPr/>
          <p:nvPr/>
        </p:nvSpPr>
        <p:spPr>
          <a:xfrm>
            <a:off x="8759952" y="4389120"/>
            <a:ext cx="2606040" cy="502920"/>
          </a:xfrm>
          <a:prstGeom prst="roundRect">
            <a:avLst>
              <a:gd name="adj" fmla="val 14545"/>
            </a:avLst>
          </a:prstGeom>
          <a:solidFill>
            <a:schemeClr val="bg1"/>
          </a:solidFill>
          <a:ln w="6350">
            <a:solidFill>
              <a:srgbClr val="CBD5E1"/>
            </a:solidFill>
          </a:ln>
        </p:spPr>
        <p:txBody>
          <a:bodyPr wrap="square" lIns="0" tIns="1778" rIns="1778" bIns="0" rtlCol="0" anchor="ctr"/>
          <a:lstStyle/>
          <a:p>
            <a:pPr indent="0" marL="0">
              <a:buNone/>
            </a:pPr>
            <a:r>
              <a:rPr lang="en-US" sz="1500" dirty="0">
                <a:solidFill>
                  <a:schemeClr val="tx1"/>
                </a:solidFill>
              </a:rPr>
              <a:t>devices, audit, overview</a:t>
            </a:r>
            <a:endParaRPr lang="en-US" sz="1500" dirty="0"/>
          </a:p>
        </p:txBody>
      </p:sp>
      <p:sp>
        <p:nvSpPr>
          <p:cNvPr id="23" name="Text 20"/>
          <p:cNvSpPr txBox="1"/>
          <p:nvPr/>
        </p:nvSpPr>
        <p:spPr>
          <a:xfrm>
            <a:off x="3703320" y="2880360"/>
            <a:ext cx="813816" cy="256032"/>
          </a:xfrm>
          <a:prstGeom prst="rect">
            <a:avLst/>
          </a:prstGeom>
          <a:noFill/>
          <a:ln/>
        </p:spPr>
        <p:txBody>
          <a:bodyPr wrap="square" lIns="0" tIns="0" rIns="0" bIns="0" rtlCol="0" anchor="t"/>
          <a:lstStyle/>
          <a:p>
            <a:pPr algn="ctr" indent="0" marL="0">
              <a:buNone/>
            </a:pPr>
            <a:r>
              <a:rPr lang="en-US" sz="1200" dirty="0">
                <a:solidFill>
                  <a:schemeClr val="accent6"/>
                </a:solidFill>
              </a:rPr>
              <a:t>events</a:t>
            </a:r>
            <a:endParaRPr lang="en-US" sz="1200" dirty="0"/>
          </a:p>
        </p:txBody>
      </p:sp>
      <p:sp>
        <p:nvSpPr>
          <p:cNvPr id="24" name="Arrow"/>
          <p:cNvSpPr/>
          <p:nvPr/>
        </p:nvSpPr>
        <p:spPr>
          <a:xfrm>
            <a:off x="3813048" y="3200400"/>
            <a:ext cx="594360" cy="320040"/>
          </a:xfrm>
          <a:prstGeom prst="rightArrow">
            <a:avLst/>
          </a:prstGeom>
          <a:solidFill>
            <a:srgbClr val="64748B"/>
          </a:solidFill>
          <a:ln w="6350">
            <a:solidFill>
              <a:srgbClr val="64748B"/>
            </a:solidFill>
            <a:prstDash val="solid"/>
          </a:ln>
        </p:spPr>
      </p:sp>
      <p:sp>
        <p:nvSpPr>
          <p:cNvPr id="25" name="Arrow"/>
          <p:cNvSpPr/>
          <p:nvPr/>
        </p:nvSpPr>
        <p:spPr>
          <a:xfrm>
            <a:off x="3813048" y="3639312"/>
            <a:ext cx="594360" cy="320040"/>
          </a:xfrm>
          <a:prstGeom prst="leftArrow">
            <a:avLst/>
          </a:prstGeom>
          <a:solidFill>
            <a:srgbClr val="64748B"/>
          </a:solidFill>
          <a:ln w="6350">
            <a:solidFill>
              <a:srgbClr val="64748B"/>
            </a:solidFill>
            <a:prstDash val="solid"/>
          </a:ln>
        </p:spPr>
      </p:sp>
      <p:sp>
        <p:nvSpPr>
          <p:cNvPr id="26" name="Text 23"/>
          <p:cNvSpPr txBox="1"/>
          <p:nvPr/>
        </p:nvSpPr>
        <p:spPr>
          <a:xfrm>
            <a:off x="3703320" y="4041648"/>
            <a:ext cx="813816" cy="256032"/>
          </a:xfrm>
          <a:prstGeom prst="rect">
            <a:avLst/>
          </a:prstGeom>
          <a:noFill/>
          <a:ln/>
        </p:spPr>
        <p:txBody>
          <a:bodyPr wrap="square" lIns="0" tIns="0" rIns="0" bIns="0" rtlCol="0" anchor="t"/>
          <a:lstStyle/>
          <a:p>
            <a:pPr algn="ctr" indent="0" marL="0">
              <a:buNone/>
            </a:pPr>
            <a:r>
              <a:rPr lang="en-US" sz="1200" dirty="0">
                <a:solidFill>
                  <a:schemeClr val="accent6"/>
                </a:solidFill>
              </a:rPr>
              <a:t>rules</a:t>
            </a:r>
            <a:endParaRPr lang="en-US" sz="1200" dirty="0"/>
          </a:p>
        </p:txBody>
      </p:sp>
      <p:sp>
        <p:nvSpPr>
          <p:cNvPr id="27" name="Text 24"/>
          <p:cNvSpPr txBox="1"/>
          <p:nvPr/>
        </p:nvSpPr>
        <p:spPr>
          <a:xfrm>
            <a:off x="7671816" y="2880360"/>
            <a:ext cx="813816" cy="256032"/>
          </a:xfrm>
          <a:prstGeom prst="rect">
            <a:avLst/>
          </a:prstGeom>
          <a:noFill/>
          <a:ln/>
        </p:spPr>
        <p:txBody>
          <a:bodyPr wrap="square" lIns="0" tIns="0" rIns="0" bIns="0" rtlCol="0" anchor="t"/>
          <a:lstStyle/>
          <a:p>
            <a:pPr algn="ctr" indent="0" marL="0">
              <a:buNone/>
            </a:pPr>
            <a:r>
              <a:rPr lang="en-US" sz="1200" dirty="0">
                <a:solidFill>
                  <a:schemeClr val="accent6"/>
                </a:solidFill>
              </a:rPr>
              <a:t>changes</a:t>
            </a:r>
            <a:endParaRPr lang="en-US" sz="1200" dirty="0"/>
          </a:p>
        </p:txBody>
      </p:sp>
      <p:sp>
        <p:nvSpPr>
          <p:cNvPr id="28" name="Arrow"/>
          <p:cNvSpPr/>
          <p:nvPr/>
        </p:nvSpPr>
        <p:spPr>
          <a:xfrm>
            <a:off x="7781544" y="3200400"/>
            <a:ext cx="594360" cy="320040"/>
          </a:xfrm>
          <a:prstGeom prst="leftArrow">
            <a:avLst/>
          </a:prstGeom>
          <a:solidFill>
            <a:srgbClr val="64748B"/>
          </a:solidFill>
          <a:ln w="6350">
            <a:solidFill>
              <a:srgbClr val="64748B"/>
            </a:solidFill>
            <a:prstDash val="solid"/>
          </a:ln>
        </p:spPr>
      </p:sp>
      <p:sp>
        <p:nvSpPr>
          <p:cNvPr id="29" name="Arrow"/>
          <p:cNvSpPr/>
          <p:nvPr/>
        </p:nvSpPr>
        <p:spPr>
          <a:xfrm>
            <a:off x="7781544" y="3639312"/>
            <a:ext cx="594360" cy="320040"/>
          </a:xfrm>
          <a:prstGeom prst="rightArrow">
            <a:avLst/>
          </a:prstGeom>
          <a:solidFill>
            <a:srgbClr val="64748B"/>
          </a:solidFill>
          <a:ln w="6350">
            <a:solidFill>
              <a:srgbClr val="64748B"/>
            </a:solidFill>
            <a:prstDash val="solid"/>
          </a:ln>
        </p:spPr>
      </p:sp>
      <p:sp>
        <p:nvSpPr>
          <p:cNvPr id="30" name="Text 27"/>
          <p:cNvSpPr txBox="1"/>
          <p:nvPr/>
        </p:nvSpPr>
        <p:spPr>
          <a:xfrm>
            <a:off x="7671816" y="4041648"/>
            <a:ext cx="813816" cy="256032"/>
          </a:xfrm>
          <a:prstGeom prst="rect">
            <a:avLst/>
          </a:prstGeom>
          <a:noFill/>
          <a:ln/>
        </p:spPr>
        <p:txBody>
          <a:bodyPr wrap="square" lIns="0" tIns="0" rIns="0" bIns="0" rtlCol="0" anchor="t"/>
          <a:lstStyle/>
          <a:p>
            <a:pPr algn="ctr" indent="0" marL="0">
              <a:buNone/>
            </a:pPr>
            <a:r>
              <a:rPr lang="en-US" sz="1200" dirty="0">
                <a:solidFill>
                  <a:schemeClr val="accent6"/>
                </a:solidFill>
              </a:rPr>
              <a:t>data</a:t>
            </a:r>
            <a:endParaRPr lang="en-US" sz="1200" dirty="0"/>
          </a:p>
        </p:txBody>
      </p:sp>
      <p:sp>
        <p:nvSpPr>
          <p:cNvPr id="31" name="Text 28"/>
          <p:cNvSpPr txBox="1"/>
          <p:nvPr/>
        </p:nvSpPr>
        <p:spPr>
          <a:xfrm>
            <a:off x="548640" y="5486400"/>
            <a:ext cx="11091672" cy="365760"/>
          </a:xfrm>
          <a:prstGeom prst="rect">
            <a:avLst/>
          </a:prstGeom>
          <a:noFill/>
          <a:ln/>
        </p:spPr>
        <p:txBody>
          <a:bodyPr wrap="square" lIns="0" tIns="0" rIns="0" bIns="0" rtlCol="0" anchor="t"/>
          <a:lstStyle/>
          <a:p>
            <a:pPr indent="0" marL="0">
              <a:buNone/>
            </a:pPr>
            <a:r>
              <a:rPr lang="en-US" sz="1800" dirty="0">
                <a:solidFill>
                  <a:schemeClr val="accent6"/>
                </a:solidFill>
              </a:rPr>
              <a:t>The agent and the dashboard never talk to each other. They both talk to the API.</a:t>
            </a:r>
            <a:endParaRPr lang="en-US" sz="18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Eyebrow"/>
          <p:cNvSpPr txBox="1"/>
          <p:nvPr/>
        </p:nvSpPr>
        <p:spPr>
          <a:xfrm>
            <a:off x="548640" y="438912"/>
            <a:ext cx="11091672"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THE FLOW</a:t>
            </a:r>
            <a:endParaRPr lang="en-US" sz="1200" dirty="0"/>
          </a:p>
        </p:txBody>
      </p:sp>
      <p:sp>
        <p:nvSpPr>
          <p:cNvPr id="4" name="Text 0"/>
          <p:cNvSpPr/>
          <p:nvPr>
            <p:ph idx="100" type="title" hasCustomPrompt="1"/>
          </p:nvPr>
        </p:nvSpPr>
        <p:spPr>
          <a:xfrm>
            <a:off x="548640" y="777240"/>
            <a:ext cx="11091672" cy="1051560"/>
          </a:xfrm>
          <a:prstGeom prst="rect">
            <a:avLst/>
          </a:prstGeom>
          <a:noFill/>
          <a:ln/>
        </p:spPr>
        <p:txBody>
          <a:bodyPr wrap="square" lIns="0" tIns="0" rIns="0" bIns="0" rtlCol="0" anchor="t"/>
          <a:lstStyle/>
          <a:p>
            <a:pPr algn="l" indent="0" marL="0">
              <a:buNone/>
            </a:pPr>
            <a:r>
              <a:rPr lang="en-US" sz="3400" b="1" dirty="0">
                <a:solidFill>
                  <a:schemeClr val="tx1"/>
                </a:solidFill>
              </a:rPr>
              <a:t>The life of one push</a:t>
            </a:r>
            <a:endParaRPr lang="en-US" sz="3400" dirty="0"/>
          </a:p>
        </p:txBody>
      </p:sp>
      <p:sp>
        <p:nvSpPr>
          <p:cNvPr id="5" name="Card"/>
          <p:cNvSpPr/>
          <p:nvPr/>
        </p:nvSpPr>
        <p:spPr>
          <a:xfrm>
            <a:off x="548640" y="2057400"/>
            <a:ext cx="3566160" cy="1828800"/>
          </a:xfrm>
          <a:prstGeom prst="roundRect">
            <a:avLst>
              <a:gd name="adj" fmla="val 6000"/>
            </a:avLst>
          </a:prstGeom>
          <a:solidFill>
            <a:schemeClr val="bg1"/>
          </a:solidFill>
          <a:ln w="9525">
            <a:solidFill>
              <a:srgbClr val="E2E8F0"/>
            </a:solidFill>
            <a:prstDash val="solid"/>
          </a:ln>
          <a:effectLst>
            <a:outerShdw sx="100000" sy="100000" kx="0" ky="0" algn="bl" rotWithShape="0" blurRad="101600" dist="25400" dir="5400000">
              <a:srgbClr val="000000">
                <a:alpha val="7000"/>
              </a:srgbClr>
            </a:outerShdw>
          </a:effectLst>
        </p:spPr>
      </p:sp>
      <p:sp>
        <p:nvSpPr>
          <p:cNvPr id="6" name="Badge 1"/>
          <p:cNvSpPr/>
          <p:nvPr/>
        </p:nvSpPr>
        <p:spPr>
          <a:xfrm>
            <a:off x="777240" y="2286000"/>
            <a:ext cx="420624" cy="42062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371600" y="2304288"/>
            <a:ext cx="2560320" cy="411480"/>
          </a:xfrm>
          <a:prstGeom prst="rect">
            <a:avLst/>
          </a:prstGeom>
          <a:noFill/>
          <a:ln/>
        </p:spPr>
        <p:txBody>
          <a:bodyPr wrap="square" lIns="0" tIns="0" rIns="0" bIns="0" rtlCol="0" anchor="ctr"/>
          <a:lstStyle/>
          <a:p>
            <a:pPr indent="0" marL="0">
              <a:buNone/>
            </a:pPr>
            <a:r>
              <a:rPr lang="en-US" sz="1800" b="1" dirty="0">
                <a:solidFill>
                  <a:schemeClr val="tx1"/>
                </a:solidFill>
              </a:rPr>
              <a:t>You run git push</a:t>
            </a:r>
            <a:endParaRPr lang="en-US" sz="1800" dirty="0"/>
          </a:p>
        </p:txBody>
      </p:sp>
      <p:sp>
        <p:nvSpPr>
          <p:cNvPr id="8" name="Text 5"/>
          <p:cNvSpPr txBox="1"/>
          <p:nvPr/>
        </p:nvSpPr>
        <p:spPr>
          <a:xfrm>
            <a:off x="777240" y="2926080"/>
            <a:ext cx="3108960" cy="868680"/>
          </a:xfrm>
          <a:prstGeom prst="rect">
            <a:avLst/>
          </a:prstGeom>
          <a:noFill/>
          <a:ln/>
        </p:spPr>
        <p:txBody>
          <a:bodyPr wrap="square" lIns="0" tIns="0" rIns="0" bIns="0" rtlCol="0" anchor="t"/>
          <a:lstStyle/>
          <a:p>
            <a:pPr indent="0" marL="0">
              <a:buNone/>
            </a:pPr>
            <a:r>
              <a:rPr lang="en-US" sz="1400" dirty="0">
                <a:solidFill>
                  <a:schemeClr val="accent6"/>
                </a:solidFill>
              </a:rPr>
              <a:t>Git runs the DevGuard hook just before sending anything.</a:t>
            </a:r>
            <a:endParaRPr lang="en-US" sz="1400" dirty="0"/>
          </a:p>
        </p:txBody>
      </p:sp>
      <p:sp>
        <p:nvSpPr>
          <p:cNvPr id="9" name="Card"/>
          <p:cNvSpPr/>
          <p:nvPr/>
        </p:nvSpPr>
        <p:spPr>
          <a:xfrm>
            <a:off x="4311396" y="2057400"/>
            <a:ext cx="3566160" cy="1828800"/>
          </a:xfrm>
          <a:prstGeom prst="roundRect">
            <a:avLst>
              <a:gd name="adj" fmla="val 6000"/>
            </a:avLst>
          </a:prstGeom>
          <a:solidFill>
            <a:schemeClr val="bg1"/>
          </a:solidFill>
          <a:ln w="9525">
            <a:solidFill>
              <a:srgbClr val="E2E8F0"/>
            </a:solidFill>
            <a:prstDash val="solid"/>
          </a:ln>
          <a:effectLst>
            <a:outerShdw sx="100000" sy="100000" kx="0" ky="0" algn="bl" rotWithShape="0" blurRad="101600" dist="25400" dir="5400000">
              <a:srgbClr val="000000">
                <a:alpha val="7000"/>
              </a:srgbClr>
            </a:outerShdw>
          </a:effectLst>
        </p:spPr>
      </p:sp>
      <p:sp>
        <p:nvSpPr>
          <p:cNvPr id="10" name="Badge 2"/>
          <p:cNvSpPr/>
          <p:nvPr/>
        </p:nvSpPr>
        <p:spPr>
          <a:xfrm>
            <a:off x="4539996" y="2286000"/>
            <a:ext cx="420624" cy="42062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5134356" y="2304288"/>
            <a:ext cx="2560320" cy="411480"/>
          </a:xfrm>
          <a:prstGeom prst="rect">
            <a:avLst/>
          </a:prstGeom>
          <a:noFill/>
          <a:ln/>
        </p:spPr>
        <p:txBody>
          <a:bodyPr wrap="square" lIns="0" tIns="0" rIns="0" bIns="0" rtlCol="0" anchor="ctr"/>
          <a:lstStyle/>
          <a:p>
            <a:pPr indent="0" marL="0">
              <a:buNone/>
            </a:pPr>
            <a:r>
              <a:rPr lang="en-US" sz="1800" b="1" dirty="0">
                <a:solidFill>
                  <a:schemeClr val="tx1"/>
                </a:solidFill>
              </a:rPr>
              <a:t>Is the repo protected?</a:t>
            </a:r>
            <a:endParaRPr lang="en-US" sz="1800" dirty="0"/>
          </a:p>
        </p:txBody>
      </p:sp>
      <p:sp>
        <p:nvSpPr>
          <p:cNvPr id="12" name="Text 9"/>
          <p:cNvSpPr txBox="1"/>
          <p:nvPr/>
        </p:nvSpPr>
        <p:spPr>
          <a:xfrm>
            <a:off x="4539996" y="2926080"/>
            <a:ext cx="3108960" cy="868680"/>
          </a:xfrm>
          <a:prstGeom prst="rect">
            <a:avLst/>
          </a:prstGeom>
          <a:noFill/>
          <a:ln/>
        </p:spPr>
        <p:txBody>
          <a:bodyPr wrap="square" lIns="0" tIns="0" rIns="0" bIns="0" rtlCol="0" anchor="t"/>
          <a:lstStyle/>
          <a:p>
            <a:pPr indent="0" marL="0">
              <a:buNone/>
            </a:pPr>
            <a:r>
              <a:rPr lang="en-US" sz="1400" dirty="0">
                <a:solidFill>
                  <a:schemeClr val="accent6"/>
                </a:solidFill>
              </a:rPr>
              <a:t>It is matched to a project assigned to this person. No match means no protection.</a:t>
            </a:r>
            <a:endParaRPr lang="en-US" sz="1400" dirty="0"/>
          </a:p>
        </p:txBody>
      </p:sp>
      <p:sp>
        <p:nvSpPr>
          <p:cNvPr id="13" name="Card"/>
          <p:cNvSpPr/>
          <p:nvPr/>
        </p:nvSpPr>
        <p:spPr>
          <a:xfrm>
            <a:off x="8074152" y="2057400"/>
            <a:ext cx="3566160" cy="1828800"/>
          </a:xfrm>
          <a:prstGeom prst="roundRect">
            <a:avLst>
              <a:gd name="adj" fmla="val 6000"/>
            </a:avLst>
          </a:prstGeom>
          <a:solidFill>
            <a:schemeClr val="bg1"/>
          </a:solidFill>
          <a:ln w="9525">
            <a:solidFill>
              <a:srgbClr val="E2E8F0"/>
            </a:solidFill>
            <a:prstDash val="solid"/>
          </a:ln>
          <a:effectLst>
            <a:outerShdw sx="100000" sy="100000" kx="0" ky="0" algn="bl" rotWithShape="0" blurRad="101600" dist="25400" dir="5400000">
              <a:srgbClr val="000000">
                <a:alpha val="7000"/>
              </a:srgbClr>
            </a:outerShdw>
          </a:effectLst>
        </p:spPr>
      </p:sp>
      <p:sp>
        <p:nvSpPr>
          <p:cNvPr id="14" name="Badge 3"/>
          <p:cNvSpPr/>
          <p:nvPr/>
        </p:nvSpPr>
        <p:spPr>
          <a:xfrm>
            <a:off x="8302752" y="2286000"/>
            <a:ext cx="420624" cy="42062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2"/>
          <p:cNvSpPr txBox="1"/>
          <p:nvPr/>
        </p:nvSpPr>
        <p:spPr>
          <a:xfrm>
            <a:off x="8897112" y="2304288"/>
            <a:ext cx="2560320" cy="411480"/>
          </a:xfrm>
          <a:prstGeom prst="rect">
            <a:avLst/>
          </a:prstGeom>
          <a:noFill/>
          <a:ln/>
        </p:spPr>
        <p:txBody>
          <a:bodyPr wrap="square" lIns="0" tIns="0" rIns="0" bIns="0" rtlCol="0" anchor="ctr"/>
          <a:lstStyle/>
          <a:p>
            <a:pPr indent="0" marL="0">
              <a:buNone/>
            </a:pPr>
            <a:r>
              <a:rPr lang="en-US" sz="1800" b="1" dirty="0">
                <a:solidFill>
                  <a:schemeClr val="tx1"/>
                </a:solidFill>
              </a:rPr>
              <a:t>Check the destination</a:t>
            </a:r>
            <a:endParaRPr lang="en-US" sz="1800" dirty="0"/>
          </a:p>
        </p:txBody>
      </p:sp>
      <p:sp>
        <p:nvSpPr>
          <p:cNvPr id="16" name="Text 13"/>
          <p:cNvSpPr txBox="1"/>
          <p:nvPr/>
        </p:nvSpPr>
        <p:spPr>
          <a:xfrm>
            <a:off x="8302752" y="2926080"/>
            <a:ext cx="3108960" cy="868680"/>
          </a:xfrm>
          <a:prstGeom prst="rect">
            <a:avLst/>
          </a:prstGeom>
          <a:noFill/>
          <a:ln/>
        </p:spPr>
        <p:txBody>
          <a:bodyPr wrap="square" lIns="0" tIns="0" rIns="0" bIns="0" rtlCol="0" anchor="t"/>
          <a:lstStyle/>
          <a:p>
            <a:pPr indent="0" marL="0">
              <a:buNone/>
            </a:pPr>
            <a:r>
              <a:rPr lang="en-US" sz="1400" dirty="0">
                <a:solidFill>
                  <a:schemeClr val="accent6"/>
                </a:solidFill>
              </a:rPr>
              <a:t>Compared exactly with the project’s approved destinations.</a:t>
            </a:r>
            <a:endParaRPr lang="en-US" sz="1400" dirty="0"/>
          </a:p>
        </p:txBody>
      </p:sp>
      <p:sp>
        <p:nvSpPr>
          <p:cNvPr id="17" name="Card"/>
          <p:cNvSpPr/>
          <p:nvPr/>
        </p:nvSpPr>
        <p:spPr>
          <a:xfrm>
            <a:off x="548640" y="4069080"/>
            <a:ext cx="3566160" cy="1828800"/>
          </a:xfrm>
          <a:prstGeom prst="roundRect">
            <a:avLst>
              <a:gd name="adj" fmla="val 6000"/>
            </a:avLst>
          </a:prstGeom>
          <a:solidFill>
            <a:schemeClr val="bg1"/>
          </a:solidFill>
          <a:ln w="9525">
            <a:solidFill>
              <a:srgbClr val="E2E8F0"/>
            </a:solidFill>
            <a:prstDash val="solid"/>
          </a:ln>
          <a:effectLst>
            <a:outerShdw sx="100000" sy="100000" kx="0" ky="0" algn="bl" rotWithShape="0" blurRad="101600" dist="25400" dir="5400000">
              <a:srgbClr val="000000">
                <a:alpha val="7000"/>
              </a:srgbClr>
            </a:outerShdw>
          </a:effectLst>
        </p:spPr>
      </p:sp>
      <p:sp>
        <p:nvSpPr>
          <p:cNvPr id="18" name="Badge 4"/>
          <p:cNvSpPr/>
          <p:nvPr/>
        </p:nvSpPr>
        <p:spPr>
          <a:xfrm>
            <a:off x="777240" y="4297680"/>
            <a:ext cx="420624" cy="42062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9" name="Text 16"/>
          <p:cNvSpPr txBox="1"/>
          <p:nvPr/>
        </p:nvSpPr>
        <p:spPr>
          <a:xfrm>
            <a:off x="1371600" y="4315968"/>
            <a:ext cx="2560320" cy="411480"/>
          </a:xfrm>
          <a:prstGeom prst="rect">
            <a:avLst/>
          </a:prstGeom>
          <a:noFill/>
          <a:ln/>
        </p:spPr>
        <p:txBody>
          <a:bodyPr wrap="square" lIns="0" tIns="0" rIns="0" bIns="0" rtlCol="0" anchor="ctr"/>
          <a:lstStyle/>
          <a:p>
            <a:pPr indent="0" marL="0">
              <a:buNone/>
            </a:pPr>
            <a:r>
              <a:rPr lang="en-US" sz="1800" b="1" dirty="0">
                <a:solidFill>
                  <a:schemeClr val="tx1"/>
                </a:solidFill>
              </a:rPr>
              <a:t>Check the commits</a:t>
            </a:r>
            <a:endParaRPr lang="en-US" sz="1800" dirty="0"/>
          </a:p>
        </p:txBody>
      </p:sp>
      <p:sp>
        <p:nvSpPr>
          <p:cNvPr id="20" name="Text 17"/>
          <p:cNvSpPr txBox="1"/>
          <p:nvPr/>
        </p:nvSpPr>
        <p:spPr>
          <a:xfrm>
            <a:off x="777240" y="4937760"/>
            <a:ext cx="3108960" cy="868680"/>
          </a:xfrm>
          <a:prstGeom prst="rect">
            <a:avLst/>
          </a:prstGeom>
          <a:noFill/>
          <a:ln/>
        </p:spPr>
        <p:txBody>
          <a:bodyPr wrap="square" lIns="0" tIns="0" rIns="0" bIns="0" rtlCol="0" anchor="t"/>
          <a:lstStyle/>
          <a:p>
            <a:pPr indent="0" marL="0">
              <a:buNone/>
            </a:pPr>
            <a:r>
              <a:rPr lang="en-US" sz="1400" dirty="0">
                <a:solidFill>
                  <a:schemeClr val="accent6"/>
                </a:solidFill>
              </a:rPr>
              <a:t>Each outgoing commit is scanned for prohibited files and known secrets.</a:t>
            </a:r>
            <a:endParaRPr lang="en-US" sz="1400" dirty="0"/>
          </a:p>
        </p:txBody>
      </p:sp>
      <p:sp>
        <p:nvSpPr>
          <p:cNvPr id="21" name="Card"/>
          <p:cNvSpPr/>
          <p:nvPr/>
        </p:nvSpPr>
        <p:spPr>
          <a:xfrm>
            <a:off x="4311396" y="4069080"/>
            <a:ext cx="3566160" cy="1828800"/>
          </a:xfrm>
          <a:prstGeom prst="roundRect">
            <a:avLst>
              <a:gd name="adj" fmla="val 6000"/>
            </a:avLst>
          </a:prstGeom>
          <a:solidFill>
            <a:schemeClr val="bg1"/>
          </a:solidFill>
          <a:ln w="9525">
            <a:solidFill>
              <a:srgbClr val="E2E8F0"/>
            </a:solidFill>
            <a:prstDash val="solid"/>
          </a:ln>
          <a:effectLst>
            <a:outerShdw sx="100000" sy="100000" kx="0" ky="0" algn="bl" rotWithShape="0" blurRad="101600" dist="25400" dir="5400000">
              <a:srgbClr val="000000">
                <a:alpha val="7000"/>
              </a:srgbClr>
            </a:outerShdw>
          </a:effectLst>
        </p:spPr>
      </p:sp>
      <p:sp>
        <p:nvSpPr>
          <p:cNvPr id="22" name="Badge 5"/>
          <p:cNvSpPr/>
          <p:nvPr/>
        </p:nvSpPr>
        <p:spPr>
          <a:xfrm>
            <a:off x="4539996" y="4297680"/>
            <a:ext cx="420624" cy="42062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3" name="Text 20"/>
          <p:cNvSpPr txBox="1"/>
          <p:nvPr/>
        </p:nvSpPr>
        <p:spPr>
          <a:xfrm>
            <a:off x="5134356" y="4315968"/>
            <a:ext cx="2560320" cy="411480"/>
          </a:xfrm>
          <a:prstGeom prst="rect">
            <a:avLst/>
          </a:prstGeom>
          <a:noFill/>
          <a:ln/>
        </p:spPr>
        <p:txBody>
          <a:bodyPr wrap="square" lIns="0" tIns="0" rIns="0" bIns="0" rtlCol="0" anchor="ctr"/>
          <a:lstStyle/>
          <a:p>
            <a:pPr indent="0" marL="0">
              <a:buNone/>
            </a:pPr>
            <a:r>
              <a:rPr lang="en-US" sz="1800" b="1" dirty="0">
                <a:solidFill>
                  <a:schemeClr val="tx1"/>
                </a:solidFill>
              </a:rPr>
              <a:t>Decide</a:t>
            </a:r>
            <a:endParaRPr lang="en-US" sz="1800" dirty="0"/>
          </a:p>
        </p:txBody>
      </p:sp>
      <p:sp>
        <p:nvSpPr>
          <p:cNvPr id="24" name="Text 21"/>
          <p:cNvSpPr txBox="1"/>
          <p:nvPr/>
        </p:nvSpPr>
        <p:spPr>
          <a:xfrm>
            <a:off x="4539996" y="4937760"/>
            <a:ext cx="3108960" cy="868680"/>
          </a:xfrm>
          <a:prstGeom prst="rect">
            <a:avLst/>
          </a:prstGeom>
          <a:noFill/>
          <a:ln/>
        </p:spPr>
        <p:txBody>
          <a:bodyPr wrap="square" lIns="0" tIns="0" rIns="0" bIns="0" rtlCol="0" anchor="t"/>
          <a:lstStyle/>
          <a:p>
            <a:pPr indent="0" marL="0">
              <a:buNone/>
            </a:pPr>
            <a:r>
              <a:rPr lang="en-US" sz="1400" dirty="0">
                <a:solidFill>
                  <a:schemeClr val="accent6"/>
                </a:solidFill>
              </a:rPr>
              <a:t>Enforce blocks and explains. Audit-only allows and records.</a:t>
            </a:r>
            <a:endParaRPr lang="en-US" sz="1400" dirty="0"/>
          </a:p>
        </p:txBody>
      </p:sp>
      <p:sp>
        <p:nvSpPr>
          <p:cNvPr id="25" name="Card"/>
          <p:cNvSpPr/>
          <p:nvPr/>
        </p:nvSpPr>
        <p:spPr>
          <a:xfrm>
            <a:off x="8074152" y="4069080"/>
            <a:ext cx="3566160" cy="1828800"/>
          </a:xfrm>
          <a:prstGeom prst="roundRect">
            <a:avLst>
              <a:gd name="adj" fmla="val 6000"/>
            </a:avLst>
          </a:prstGeom>
          <a:solidFill>
            <a:schemeClr val="bg1"/>
          </a:solidFill>
          <a:ln w="9525">
            <a:solidFill>
              <a:srgbClr val="E2E8F0"/>
            </a:solidFill>
            <a:prstDash val="solid"/>
          </a:ln>
          <a:effectLst>
            <a:outerShdw sx="100000" sy="100000" kx="0" ky="0" algn="bl" rotWithShape="0" blurRad="101600" dist="25400" dir="5400000">
              <a:srgbClr val="000000">
                <a:alpha val="7000"/>
              </a:srgbClr>
            </a:outerShdw>
          </a:effectLst>
        </p:spPr>
      </p:sp>
      <p:sp>
        <p:nvSpPr>
          <p:cNvPr id="26" name="Badge 6"/>
          <p:cNvSpPr/>
          <p:nvPr/>
        </p:nvSpPr>
        <p:spPr>
          <a:xfrm>
            <a:off x="8302752" y="4297680"/>
            <a:ext cx="420624" cy="42062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7" name="Text 24"/>
          <p:cNvSpPr txBox="1"/>
          <p:nvPr/>
        </p:nvSpPr>
        <p:spPr>
          <a:xfrm>
            <a:off x="8897112" y="4315968"/>
            <a:ext cx="2560320" cy="411480"/>
          </a:xfrm>
          <a:prstGeom prst="rect">
            <a:avLst/>
          </a:prstGeom>
          <a:noFill/>
          <a:ln/>
        </p:spPr>
        <p:txBody>
          <a:bodyPr wrap="square" lIns="0" tIns="0" rIns="0" bIns="0" rtlCol="0" anchor="ctr"/>
          <a:lstStyle/>
          <a:p>
            <a:pPr indent="0" marL="0">
              <a:buNone/>
            </a:pPr>
            <a:r>
              <a:rPr lang="en-US" sz="1800" b="1" dirty="0">
                <a:solidFill>
                  <a:schemeClr val="tx1"/>
                </a:solidFill>
              </a:rPr>
              <a:t>Report</a:t>
            </a:r>
            <a:endParaRPr lang="en-US" sz="1800" dirty="0"/>
          </a:p>
        </p:txBody>
      </p:sp>
      <p:sp>
        <p:nvSpPr>
          <p:cNvPr id="28" name="Text 25"/>
          <p:cNvSpPr txBox="1"/>
          <p:nvPr/>
        </p:nvSpPr>
        <p:spPr>
          <a:xfrm>
            <a:off x="8302752" y="4937760"/>
            <a:ext cx="3108960" cy="868680"/>
          </a:xfrm>
          <a:prstGeom prst="rect">
            <a:avLst/>
          </a:prstGeom>
          <a:noFill/>
          <a:ln/>
        </p:spPr>
        <p:txBody>
          <a:bodyPr wrap="square" lIns="0" tIns="0" rIns="0" bIns="0" rtlCol="0" anchor="t"/>
          <a:lstStyle/>
          <a:p>
            <a:pPr indent="0" marL="0">
              <a:buNone/>
            </a:pPr>
            <a:r>
              <a:rPr lang="en-US" sz="1400" dirty="0">
                <a:solidFill>
                  <a:schemeClr val="accent6"/>
                </a:solidFill>
              </a:rPr>
              <a:t>An event goes to the server, queued if offline. Serious ones can trigger an email.</a:t>
            </a:r>
            <a:endParaRPr lang="en-US" sz="14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Eyebrow"/>
          <p:cNvSpPr txBox="1"/>
          <p:nvPr/>
        </p:nvSpPr>
        <p:spPr>
          <a:xfrm>
            <a:off x="548640" y="438912"/>
            <a:ext cx="11091672"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PART 1 OF 3</a:t>
            </a:r>
            <a:endParaRPr lang="en-US" sz="1200" dirty="0"/>
          </a:p>
        </p:txBody>
      </p:sp>
      <p:sp>
        <p:nvSpPr>
          <p:cNvPr id="4" name="Text 0"/>
          <p:cNvSpPr/>
          <p:nvPr>
            <p:ph idx="100" type="title" hasCustomPrompt="1"/>
          </p:nvPr>
        </p:nvSpPr>
        <p:spPr>
          <a:xfrm>
            <a:off x="548640" y="777240"/>
            <a:ext cx="11091672" cy="1051560"/>
          </a:xfrm>
          <a:prstGeom prst="rect">
            <a:avLst/>
          </a:prstGeom>
          <a:noFill/>
          <a:ln/>
        </p:spPr>
        <p:txBody>
          <a:bodyPr wrap="square" lIns="0" tIns="0" rIns="0" bIns="0" rtlCol="0" anchor="t"/>
          <a:lstStyle/>
          <a:p>
            <a:pPr algn="l" indent="0" marL="0">
              <a:buNone/>
            </a:pPr>
            <a:r>
              <a:rPr lang="en-US" sz="3400" b="1" dirty="0">
                <a:solidFill>
                  <a:schemeClr val="tx1"/>
                </a:solidFill>
              </a:rPr>
              <a:t>The laptop agent</a:t>
            </a:r>
            <a:endParaRPr lang="en-US" sz="3400" dirty="0"/>
          </a:p>
        </p:txBody>
      </p:sp>
      <p:sp>
        <p:nvSpPr>
          <p:cNvPr id="5" name="Card"/>
          <p:cNvSpPr/>
          <p:nvPr/>
        </p:nvSpPr>
        <p:spPr>
          <a:xfrm>
            <a:off x="548640" y="2011680"/>
            <a:ext cx="5440680" cy="3246120"/>
          </a:xfrm>
          <a:prstGeom prst="roundRect">
            <a:avLst>
              <a:gd name="adj" fmla="val 3380"/>
            </a:avLst>
          </a:prstGeom>
          <a:solidFill>
            <a:schemeClr val="bg1"/>
          </a:solidFill>
          <a:ln w="9525">
            <a:solidFill>
              <a:srgbClr val="E2E8F0"/>
            </a:solidFill>
            <a:prstDash val="solid"/>
          </a:ln>
          <a:effectLst>
            <a:outerShdw sx="100000" sy="100000" kx="0" ky="0" algn="bl" rotWithShape="0" blurRad="101600" dist="25400" dir="5400000">
              <a:srgbClr val="000000">
                <a:alpha val="7000"/>
              </a:srgbClr>
            </a:outerShdw>
          </a:effectLst>
        </p:spPr>
      </p:sp>
      <p:sp>
        <p:nvSpPr>
          <p:cNvPr id="6" name="Text 3"/>
          <p:cNvSpPr txBox="1"/>
          <p:nvPr/>
        </p:nvSpPr>
        <p:spPr>
          <a:xfrm>
            <a:off x="914400" y="2240280"/>
            <a:ext cx="4709160" cy="457200"/>
          </a:xfrm>
          <a:prstGeom prst="rect">
            <a:avLst/>
          </a:prstGeom>
          <a:noFill/>
          <a:ln/>
        </p:spPr>
        <p:txBody>
          <a:bodyPr wrap="square" lIns="0" tIns="0" rIns="0" bIns="0" rtlCol="0" anchor="t"/>
          <a:lstStyle/>
          <a:p>
            <a:pPr indent="0" marL="0">
              <a:buNone/>
            </a:pPr>
            <a:r>
              <a:rPr lang="en-US" sz="2400" b="1" dirty="0">
                <a:solidFill>
                  <a:schemeClr val="accent2"/>
                </a:solidFill>
              </a:rPr>
              <a:t>Its job</a:t>
            </a:r>
            <a:endParaRPr lang="en-US" sz="2400" dirty="0"/>
          </a:p>
        </p:txBody>
      </p:sp>
      <p:sp>
        <p:nvSpPr>
          <p:cNvPr id="7" name="Text 4"/>
          <p:cNvSpPr txBox="1"/>
          <p:nvPr/>
        </p:nvSpPr>
        <p:spPr>
          <a:xfrm>
            <a:off x="914400" y="2834640"/>
            <a:ext cx="4709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Be the enforcer: allow or block each push</a:t>
            </a:r>
            <a:endParaRPr lang="en-US" sz="1800" dirty="0"/>
          </a:p>
          <a:p>
            <a:pPr marL="342900" indent="-342900">
              <a:spcAft>
                <a:spcPts val="1000"/>
              </a:spcAft>
              <a:buSzPct val="100000"/>
              <a:buChar char="•"/>
            </a:pPr>
            <a:r>
              <a:rPr lang="en-US" sz="1800" dirty="0">
                <a:solidFill>
                  <a:schemeClr val="tx1"/>
                </a:solidFill>
              </a:rPr>
              <a:t>Recognise which repositories belong to which project</a:t>
            </a:r>
            <a:endParaRPr lang="en-US" sz="1800" dirty="0"/>
          </a:p>
          <a:p>
            <a:pPr marL="342900" indent="-342900">
              <a:spcAft>
                <a:spcPts val="1000"/>
              </a:spcAft>
              <a:buSzPct val="100000"/>
              <a:buChar char="•"/>
            </a:pPr>
            <a:r>
              <a:rPr lang="en-US" sz="1800" dirty="0">
                <a:solidFill>
                  <a:schemeClr val="tx1"/>
                </a:solidFill>
              </a:rPr>
              <a:t>Keep saved rules, and queue events when offline</a:t>
            </a:r>
            <a:endParaRPr lang="en-US" sz="1800" dirty="0"/>
          </a:p>
          <a:p>
            <a:pPr marL="342900" indent="-342900">
              <a:spcAft>
                <a:spcPts val="1000"/>
              </a:spcAft>
              <a:buSzPct val="100000"/>
              <a:buChar char="•"/>
            </a:pPr>
            <a:r>
              <a:rPr lang="en-US" sz="1800" dirty="0">
                <a:solidFill>
                  <a:schemeClr val="tx1"/>
                </a:solidFill>
              </a:rPr>
              <a:t>Let developers ask for an exception</a:t>
            </a:r>
            <a:endParaRPr lang="en-US" sz="1800" dirty="0"/>
          </a:p>
        </p:txBody>
      </p:sp>
      <p:sp>
        <p:nvSpPr>
          <p:cNvPr id="8" name="Card"/>
          <p:cNvSpPr/>
          <p:nvPr/>
        </p:nvSpPr>
        <p:spPr>
          <a:xfrm>
            <a:off x="6199632" y="2011680"/>
            <a:ext cx="5440680" cy="3246120"/>
          </a:xfrm>
          <a:prstGeom prst="roundRect">
            <a:avLst>
              <a:gd name="adj" fmla="val 3380"/>
            </a:avLst>
          </a:prstGeom>
          <a:solidFill>
            <a:schemeClr val="bg1"/>
          </a:solidFill>
          <a:ln w="9525">
            <a:solidFill>
              <a:srgbClr val="E2E8F0"/>
            </a:solidFill>
            <a:prstDash val="solid"/>
          </a:ln>
          <a:effectLst>
            <a:outerShdw sx="100000" sy="100000" kx="0" ky="0" algn="bl" rotWithShape="0" blurRad="101600" dist="25400" dir="5400000">
              <a:srgbClr val="000000">
                <a:alpha val="7000"/>
              </a:srgbClr>
            </a:outerShdw>
          </a:effectLst>
        </p:spPr>
      </p:sp>
      <p:sp>
        <p:nvSpPr>
          <p:cNvPr id="9" name="Text 6"/>
          <p:cNvSpPr txBox="1"/>
          <p:nvPr/>
        </p:nvSpPr>
        <p:spPr>
          <a:xfrm>
            <a:off x="6565392" y="2240280"/>
            <a:ext cx="4709160" cy="457200"/>
          </a:xfrm>
          <a:prstGeom prst="rect">
            <a:avLst/>
          </a:prstGeom>
          <a:noFill/>
          <a:ln/>
        </p:spPr>
        <p:txBody>
          <a:bodyPr wrap="square" lIns="0" tIns="0" rIns="0" bIns="0" rtlCol="0" anchor="t"/>
          <a:lstStyle/>
          <a:p>
            <a:pPr indent="0" marL="0">
              <a:buNone/>
            </a:pPr>
            <a:r>
              <a:rPr lang="en-US" sz="2400" b="1" dirty="0">
                <a:solidFill>
                  <a:schemeClr val="accent4"/>
                </a:solidFill>
              </a:rPr>
              <a:t>What it never does</a:t>
            </a:r>
            <a:endParaRPr lang="en-US" sz="2400" dirty="0"/>
          </a:p>
        </p:txBody>
      </p:sp>
      <p:sp>
        <p:nvSpPr>
          <p:cNvPr id="10" name="Text 7"/>
          <p:cNvSpPr txBox="1"/>
          <p:nvPr/>
        </p:nvSpPr>
        <p:spPr>
          <a:xfrm>
            <a:off x="6565392" y="2834640"/>
            <a:ext cx="4709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Decide policy: the server is the source of truth</a:t>
            </a:r>
            <a:endParaRPr lang="en-US" sz="1800" dirty="0"/>
          </a:p>
          <a:p>
            <a:pPr marL="342900" indent="-342900">
              <a:spcAft>
                <a:spcPts val="1000"/>
              </a:spcAft>
              <a:buSzPct val="100000"/>
              <a:buChar char="•"/>
            </a:pPr>
            <a:r>
              <a:rPr lang="en-US" sz="1800" dirty="0">
                <a:solidFill>
                  <a:schemeClr val="tx1"/>
                </a:solidFill>
              </a:rPr>
              <a:t>Send file contents or secret values</a:t>
            </a:r>
            <a:endParaRPr lang="en-US" sz="1800" dirty="0"/>
          </a:p>
          <a:p>
            <a:pPr marL="342900" indent="-342900">
              <a:spcAft>
                <a:spcPts val="1000"/>
              </a:spcAft>
              <a:buSzPct val="100000"/>
              <a:buChar char="•"/>
            </a:pPr>
            <a:r>
              <a:rPr lang="en-US" sz="1800" dirty="0">
                <a:solidFill>
                  <a:schemeClr val="tx1"/>
                </a:solidFill>
              </a:rPr>
              <a:t>Change your code or Git history</a:t>
            </a:r>
            <a:endParaRPr lang="en-US" sz="1800" dirty="0"/>
          </a:p>
          <a:p>
            <a:pPr marL="342900" indent="-342900">
              <a:spcAft>
                <a:spcPts val="1000"/>
              </a:spcAft>
              <a:buSzPct val="100000"/>
              <a:buChar char="•"/>
            </a:pPr>
            <a:r>
              <a:rPr lang="en-US" sz="1800" dirty="0">
                <a:solidFill>
                  <a:schemeClr val="tx1"/>
                </a:solidFill>
              </a:rPr>
              <a:t>Watch anything except Git pushes</a:t>
            </a:r>
            <a:endParaRPr lang="en-US" sz="1800" dirty="0"/>
          </a:p>
        </p:txBody>
      </p:sp>
      <p:sp>
        <p:nvSpPr>
          <p:cNvPr id="11" name="Text 8"/>
          <p:cNvSpPr txBox="1"/>
          <p:nvPr/>
        </p:nvSpPr>
        <p:spPr>
          <a:xfrm>
            <a:off x="548640" y="5532120"/>
            <a:ext cx="11091672" cy="548640"/>
          </a:xfrm>
          <a:prstGeom prst="rect">
            <a:avLst/>
          </a:prstGeom>
          <a:noFill/>
          <a:ln/>
        </p:spPr>
        <p:txBody>
          <a:bodyPr wrap="square" lIns="0" tIns="0" rIns="0" bIns="0" rtlCol="0" anchor="t"/>
          <a:lstStyle/>
          <a:p>
            <a:pPr indent="0" marL="0">
              <a:buNone/>
            </a:pPr>
            <a:r>
              <a:rPr lang="en-US" sz="1600" dirty="0">
                <a:solidFill>
                  <a:schemeClr val="accent6"/>
                </a:solidFill>
              </a:rPr>
              <a:t>A command-line program plus a Git hook (Node.js, TypeScript). No window or tray icon, and silent on a normal push.</a:t>
            </a:r>
            <a:endParaRPr lang="en-US" sz="16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Eyebrow"/>
          <p:cNvSpPr txBox="1"/>
          <p:nvPr/>
        </p:nvSpPr>
        <p:spPr>
          <a:xfrm>
            <a:off x="548640" y="438912"/>
            <a:ext cx="11091672" cy="274320"/>
          </a:xfrm>
          <a:prstGeom prst="rect">
            <a:avLst/>
          </a:prstGeom>
          <a:noFill/>
          <a:ln/>
        </p:spPr>
        <p:txBody>
          <a:bodyPr wrap="square" lIns="0" tIns="0" rIns="0" bIns="0" rtlCol="0" anchor="t"/>
          <a:lstStyle/>
          <a:p>
            <a:pPr indent="0" marL="0">
              <a:buNone/>
            </a:pPr>
            <a:r>
              <a:rPr lang="en-US" sz="1200" b="1" spc="300" kern="0" dirty="0">
                <a:solidFill>
                  <a:srgbClr val="A5B4FC"/>
                </a:solidFill>
              </a:rPr>
              <a:t>WHAT A DEVELOPER SEES</a:t>
            </a:r>
            <a:endParaRPr lang="en-US" sz="1200" dirty="0"/>
          </a:p>
        </p:txBody>
      </p:sp>
      <p:sp>
        <p:nvSpPr>
          <p:cNvPr id="4" name="Text 0"/>
          <p:cNvSpPr/>
          <p:nvPr>
            <p:ph idx="100" type="title" hasCustomPrompt="1"/>
          </p:nvPr>
        </p:nvSpPr>
        <p:spPr>
          <a:xfrm>
            <a:off x="548640" y="777240"/>
            <a:ext cx="11091672" cy="1051560"/>
          </a:xfrm>
          <a:prstGeom prst="rect">
            <a:avLst/>
          </a:prstGeom>
          <a:noFill/>
          <a:ln/>
        </p:spPr>
        <p:txBody>
          <a:bodyPr wrap="square" lIns="0" tIns="0" rIns="0" bIns="0" rtlCol="0" anchor="t"/>
          <a:lstStyle/>
          <a:p>
            <a:pPr algn="l" indent="0" marL="0">
              <a:buNone/>
            </a:pPr>
            <a:r>
              <a:rPr lang="en-US" sz="3400" b="1" dirty="0">
                <a:solidFill>
                  <a:schemeClr val="bg1"/>
                </a:solidFill>
              </a:rPr>
              <a:t>A blocked push explains itself</a:t>
            </a:r>
            <a:endParaRPr lang="en-US" sz="3400" dirty="0"/>
          </a:p>
        </p:txBody>
      </p:sp>
      <p:sp>
        <p:nvSpPr>
          <p:cNvPr id="5" name="Terminal"/>
          <p:cNvSpPr/>
          <p:nvPr/>
        </p:nvSpPr>
        <p:spPr>
          <a:xfrm>
            <a:off x="548640" y="2011680"/>
            <a:ext cx="11091672" cy="3154680"/>
          </a:xfrm>
          <a:prstGeom prst="roundRect">
            <a:avLst>
              <a:gd name="adj" fmla="val 3478"/>
            </a:avLst>
          </a:prstGeom>
          <a:solidFill>
            <a:srgbClr val="060B16"/>
          </a:solidFill>
          <a:ln w="9525">
            <a:solidFill>
              <a:srgbClr val="1E293B"/>
            </a:solidFill>
            <a:prstDash val="solid"/>
          </a:ln>
        </p:spPr>
      </p:sp>
      <p:sp>
        <p:nvSpPr>
          <p:cNvPr id="6" name="Text 3"/>
          <p:cNvSpPr txBox="1"/>
          <p:nvPr/>
        </p:nvSpPr>
        <p:spPr>
          <a:xfrm>
            <a:off x="914400" y="2240280"/>
            <a:ext cx="10360152" cy="2743200"/>
          </a:xfrm>
          <a:prstGeom prst="rect">
            <a:avLst/>
          </a:prstGeom>
          <a:noFill/>
          <a:ln/>
        </p:spPr>
        <p:txBody>
          <a:bodyPr wrap="square" lIns="0" tIns="0" rIns="0" bIns="0" rtlCol="0" anchor="t"/>
          <a:lstStyle/>
          <a:p>
            <a:pPr indent="0" marL="0">
              <a:lnSpc>
                <a:spcPct val="115000"/>
              </a:lnSpc>
              <a:buNone/>
            </a:pPr>
            <a:r>
              <a:rPr lang="en-US" sz="1400" dirty="0">
                <a:solidFill>
                  <a:srgbClr val="94A3B8"/>
                </a:solidFill>
                <a:latin typeface="Courier New" pitchFamily="34" charset="0"/>
                <a:ea typeface="Courier New" pitchFamily="34" charset="-122"/>
                <a:cs typeface="Courier New" pitchFamily="34" charset="-120"/>
              </a:rPr>
              <a:t>$ git push fork main</a:t>
            </a:r>
            <a:endParaRPr lang="en-US" sz="1600" dirty="0"/>
          </a:p>
          <a:p>
            <a:pPr indent="0" marL="0">
              <a:lnSpc>
                <a:spcPct val="115000"/>
              </a:lnSpc>
              <a:buNone/>
            </a:pPr>
            <a:r>
              <a:rPr lang="en-US" sz="1400" b="1" dirty="0">
                <a:solidFill>
                  <a:srgbClr val="FCA5A5"/>
                </a:solidFill>
                <a:latin typeface="Courier New" pitchFamily="34" charset="0"/>
                <a:ea typeface="Courier New" pitchFamily="34" charset="-122"/>
                <a:cs typeface="Courier New" pitchFamily="34" charset="-120"/>
              </a:rPr>
              <a:t>DevGuard blocked this push.</a:t>
            </a:r>
            <a:endParaRPr lang="en-US" sz="1600" dirty="0"/>
          </a:p>
          <a:p>
            <a:pPr indent="0" marL="0">
              <a:lnSpc>
                <a:spcPct val="115000"/>
              </a:lnSpc>
              <a:buNone/>
            </a:pPr>
            <a:r>
              <a:rPr lang="en-US" sz="1400" dirty="0">
                <a:solidFill>
                  <a:srgbClr val="E2E8F0"/>
                </a:solidFill>
                <a:latin typeface="Courier New" pitchFamily="34" charset="0"/>
                <a:ea typeface="Courier New" pitchFamily="34" charset="-122"/>
                <a:cs typeface="Courier New" pitchFamily="34" charset="-120"/>
              </a:rPr>
              <a:t>  Project: Portal (confidential, enforce)</a:t>
            </a:r>
            <a:endParaRPr lang="en-US" sz="1600" dirty="0"/>
          </a:p>
          <a:p>
            <a:pPr indent="0" marL="0">
              <a:lnSpc>
                <a:spcPct val="115000"/>
              </a:lnSpc>
              <a:buNone/>
            </a:pPr>
            <a:r>
              <a:rPr lang="en-US" sz="1400" dirty="0">
                <a:solidFill>
                  <a:srgbClr val="E2E8F0"/>
                </a:solidFill>
                <a:latin typeface="Courier New" pitchFamily="34" charset="0"/>
                <a:ea typeface="Courier New" pitchFamily="34" charset="-122"/>
                <a:cs typeface="Courier New" pitchFamily="34" charset="-120"/>
              </a:rPr>
              <a:t>  Destination: github.com/personal/fork</a:t>
            </a:r>
            <a:endParaRPr lang="en-US" sz="1600" dirty="0"/>
          </a:p>
          <a:p>
            <a:pPr indent="0" marL="0">
              <a:lnSpc>
                <a:spcPct val="115000"/>
              </a:lnSpc>
              <a:buNone/>
            </a:pPr>
            <a:r>
              <a:rPr lang="en-US" sz="1400" dirty="0">
                <a:solidFill>
                  <a:srgbClr val="E2E8F0"/>
                </a:solidFill>
                <a:latin typeface="Courier New" pitchFamily="34" charset="0"/>
                <a:ea typeface="Courier New" pitchFamily="34" charset="-122"/>
                <a:cs typeface="Courier New" pitchFamily="34" charset="-120"/>
              </a:rPr>
              <a:t>  Why: the destination is not approved for this project.</a:t>
            </a:r>
            <a:endParaRPr lang="en-US" sz="1600" dirty="0"/>
          </a:p>
          <a:p>
            <a:pPr indent="0" marL="0">
              <a:lnSpc>
                <a:spcPct val="115000"/>
              </a:lnSpc>
              <a:buNone/>
            </a:pPr>
            <a:r>
              <a:rPr lang="en-US" sz="1400" dirty="0">
                <a:solidFill>
                  <a:srgbClr val="E2E8F0"/>
                </a:solidFill>
                <a:latin typeface="Courier New" pitchFamily="34" charset="0"/>
                <a:ea typeface="Courier New" pitchFamily="34" charset="-122"/>
                <a:cs typeface="Courier New" pitchFamily="34" charset="-120"/>
              </a:rPr>
              <a:t>  To ask for an exception:</a:t>
            </a:r>
            <a:endParaRPr lang="en-US" sz="1600" dirty="0"/>
          </a:p>
          <a:p>
            <a:pPr indent="0" marL="0">
              <a:lnSpc>
                <a:spcPct val="115000"/>
              </a:lnSpc>
              <a:buNone/>
            </a:pPr>
            <a:r>
              <a:rPr lang="en-US" sz="1400" dirty="0">
                <a:solidFill>
                  <a:srgbClr val="7DD3FC"/>
                </a:solidFill>
                <a:latin typeface="Courier New" pitchFamily="34" charset="0"/>
                <a:ea typeface="Courier New" pitchFamily="34" charset="-122"/>
                <a:cs typeface="Courier New" pitchFamily="34" charset="-120"/>
              </a:rPr>
              <a:t>    devguard request-exception --destination https://github.com/personal/fork --reason "&lt;why&gt;"</a:t>
            </a:r>
            <a:endParaRPr lang="en-US" sz="1600" dirty="0"/>
          </a:p>
          <a:p>
            <a:pPr indent="0" marL="0">
              <a:lnSpc>
                <a:spcPct val="115000"/>
              </a:lnSpc>
              <a:buNone/>
            </a:pPr>
            <a:r>
              <a:rPr lang="en-US" sz="1400" dirty="0">
                <a:solidFill>
                  <a:srgbClr val="FCD34D"/>
                </a:solidFill>
                <a:latin typeface="Courier New" pitchFamily="34" charset="0"/>
                <a:ea typeface="Courier New" pitchFamily="34" charset="-122"/>
                <a:cs typeface="Courier New" pitchFamily="34" charset="-120"/>
              </a:rPr>
              <a:t>  Reference: 3f9c2e1a-...</a:t>
            </a:r>
            <a:endParaRPr lang="en-US" sz="1600" dirty="0"/>
          </a:p>
        </p:txBody>
      </p:sp>
      <p:sp>
        <p:nvSpPr>
          <p:cNvPr id="7" name="Text 4"/>
          <p:cNvSpPr txBox="1"/>
          <p:nvPr/>
        </p:nvSpPr>
        <p:spPr>
          <a:xfrm>
            <a:off x="548640" y="5440680"/>
            <a:ext cx="11091672" cy="731520"/>
          </a:xfrm>
          <a:prstGeom prst="rect">
            <a:avLst/>
          </a:prstGeom>
          <a:noFill/>
          <a:ln/>
        </p:spPr>
        <p:txBody>
          <a:bodyPr wrap="square" lIns="0" tIns="0" rIns="0" bIns="0" rtlCol="0" anchor="t"/>
          <a:lstStyle/>
          <a:p>
            <a:pPr indent="0" marL="0">
              <a:buNone/>
            </a:pPr>
            <a:r>
              <a:rPr lang="en-US" sz="1800" dirty="0">
                <a:solidFill>
                  <a:srgbClr val="CBD5E1"/>
                </a:solidFill>
              </a:rPr>
              <a:t>The remote is untouched. The reference lets an administrator find exactly this push. Secrets are never shown, only the file, line and rule.</a:t>
            </a:r>
            <a:endParaRPr lang="en-US" sz="18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4A3B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Eyebrow"/>
          <p:cNvSpPr txBox="1"/>
          <p:nvPr/>
        </p:nvSpPr>
        <p:spPr>
          <a:xfrm>
            <a:off x="548640" y="438912"/>
            <a:ext cx="11091672"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PART 1 OF 3</a:t>
            </a:r>
            <a:endParaRPr lang="en-US" sz="1200" dirty="0"/>
          </a:p>
        </p:txBody>
      </p:sp>
      <p:sp>
        <p:nvSpPr>
          <p:cNvPr id="4" name="Text 0"/>
          <p:cNvSpPr/>
          <p:nvPr>
            <p:ph idx="100" type="title" hasCustomPrompt="1"/>
          </p:nvPr>
        </p:nvSpPr>
        <p:spPr>
          <a:xfrm>
            <a:off x="548640" y="777240"/>
            <a:ext cx="11091672" cy="1051560"/>
          </a:xfrm>
          <a:prstGeom prst="rect">
            <a:avLst/>
          </a:prstGeom>
          <a:noFill/>
          <a:ln/>
        </p:spPr>
        <p:txBody>
          <a:bodyPr wrap="square" lIns="0" tIns="0" rIns="0" bIns="0" rtlCol="0" anchor="t"/>
          <a:lstStyle/>
          <a:p>
            <a:pPr algn="l" indent="0" marL="0">
              <a:buNone/>
            </a:pPr>
            <a:r>
              <a:rPr lang="en-US" sz="3400" b="1" dirty="0">
                <a:solidFill>
                  <a:schemeClr val="tx1"/>
                </a:solidFill>
              </a:rPr>
              <a:t>Seven commands to know</a:t>
            </a:r>
            <a:endParaRPr lang="en-US" sz="3400" dirty="0"/>
          </a:p>
        </p:txBody>
      </p:sp>
      <p:graphicFrame>
        <p:nvGraphicFramePr>
          <p:cNvPr id="11" name="Commands table"/>
          <p:cNvGraphicFramePr>
            <a:graphicFrameLocks noGrp="1"/>
          </p:cNvGraphicFramePr>
          <p:nvPr>
            <p:extLst>
              <p:ext uri="{D42A27DB-BD31-4B8C-83A1-F6EECF244321}">
                <p14:modId xmlns:p14="http://schemas.microsoft.com/office/powerpoint/2010/main" val="1579011935"/>
              </p:ext>
            </p:extLst>
          </p:nvPr>
        </p:nvGraphicFramePr>
        <p:xfrm>
          <a:off x="548640" y="2011680"/>
          <a:ext cx="11091672" cy="914400"/>
        </p:xfrm>
        <a:graphic>
          <a:graphicData uri="http://schemas.openxmlformats.org/drawingml/2006/table">
            <a:tbl>
              <a:tblPr/>
              <a:tblGrid>
                <a:gridCol w="4023360"/>
                <a:gridCol w="7068312"/>
              </a:tblGrid>
              <a:tr h="475488">
                <a:tc>
                  <a:txBody>
                    <a:bodyPr/>
                    <a:lstStyle/>
                    <a:p>
                      <a:pPr indent="0" marL="0">
                        <a:buNone/>
                      </a:pPr>
                      <a:r>
                        <a:rPr lang="en-US" sz="1600" b="1" dirty="0">
                          <a:solidFill>
                            <a:schemeClr val="bg1"/>
                          </a:solidFill>
                        </a:rPr>
                        <a:t>Command</a:t>
                      </a:r>
                      <a:endParaRPr lang="en-US" sz="1600" dirty="0"/>
                    </a:p>
                  </a:txBody>
                  <a:tcPr marL="128016" marR="128016"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rPr>
                        <a:t>What it does</a:t>
                      </a:r>
                      <a:endParaRPr lang="en-US" sz="1600" dirty="0"/>
                    </a:p>
                  </a:txBody>
                  <a:tcPr marL="128016" marR="128016"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tx2"/>
                    </a:solidFill>
                  </a:tcPr>
                </a:tc>
              </a:tr>
              <a:tr h="475488">
                <a:tc>
                  <a:txBody>
                    <a:bodyPr/>
                    <a:lstStyle/>
                    <a:p>
                      <a:pPr indent="0" marL="0">
                        <a:buNone/>
                      </a:pPr>
                      <a:r>
                        <a:rPr lang="en-US" sz="1600" b="1" dirty="0">
                          <a:solidFill>
                            <a:schemeClr val="tx1"/>
                          </a:solidFill>
                        </a:rPr>
                        <a:t>devguard enroll</a:t>
                      </a:r>
                      <a:endParaRPr lang="en-US" sz="1600" dirty="0"/>
                    </a:p>
                  </a:txBody>
                  <a:tcPr marL="128016" marR="128016"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One-time setup: links the laptop, installs the hook</a:t>
                      </a:r>
                      <a:endParaRPr lang="en-US" sz="1600" dirty="0"/>
                    </a:p>
                  </a:txBody>
                  <a:tcPr marL="128016" marR="128016"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75488">
                <a:tc>
                  <a:txBody>
                    <a:bodyPr/>
                    <a:lstStyle/>
                    <a:p>
                      <a:pPr indent="0" marL="0">
                        <a:buNone/>
                      </a:pPr>
                      <a:r>
                        <a:rPr lang="en-US" sz="1600" b="1" dirty="0">
                          <a:solidFill>
                            <a:schemeClr val="tx1"/>
                          </a:solidFill>
                        </a:rPr>
                        <a:t>devguard status</a:t>
                      </a:r>
                      <a:endParaRPr lang="en-US" sz="1600" dirty="0"/>
                    </a:p>
                  </a:txBody>
                  <a:tcPr marL="128016" marR="128016"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600" dirty="0">
                          <a:solidFill>
                            <a:schemeClr val="tx1"/>
                          </a:solidFill>
                        </a:rPr>
                        <a:t>Shows enrollment, hook, saved rules and queued events</a:t>
                      </a:r>
                      <a:endParaRPr lang="en-US" sz="1600" dirty="0"/>
                    </a:p>
                  </a:txBody>
                  <a:tcPr marL="128016" marR="128016"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475488">
                <a:tc>
                  <a:txBody>
                    <a:bodyPr/>
                    <a:lstStyle/>
                    <a:p>
                      <a:pPr indent="0" marL="0">
                        <a:buNone/>
                      </a:pPr>
                      <a:r>
                        <a:rPr lang="en-US" sz="1600" b="1" dirty="0">
                          <a:solidFill>
                            <a:schemeClr val="tx1"/>
                          </a:solidFill>
                        </a:rPr>
                        <a:t>devguard sync</a:t>
                      </a:r>
                      <a:endParaRPr lang="en-US" sz="1600" dirty="0"/>
                    </a:p>
                  </a:txBody>
                  <a:tcPr marL="128016" marR="128016"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Fetch the latest rules and send queued events</a:t>
                      </a:r>
                      <a:endParaRPr lang="en-US" sz="1600" dirty="0"/>
                    </a:p>
                  </a:txBody>
                  <a:tcPr marL="128016" marR="128016"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75488">
                <a:tc>
                  <a:txBody>
                    <a:bodyPr/>
                    <a:lstStyle/>
                    <a:p>
                      <a:pPr indent="0" marL="0">
                        <a:buNone/>
                      </a:pPr>
                      <a:r>
                        <a:rPr lang="en-US" sz="1600" b="1" dirty="0">
                          <a:solidFill>
                            <a:schemeClr val="tx1"/>
                          </a:solidFill>
                        </a:rPr>
                        <a:t>devguard request-exception</a:t>
                      </a:r>
                      <a:endParaRPr lang="en-US" sz="1600" dirty="0"/>
                    </a:p>
                  </a:txBody>
                  <a:tcPr marL="128016" marR="128016"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600" dirty="0">
                          <a:solidFill>
                            <a:schemeClr val="tx1"/>
                          </a:solidFill>
                        </a:rPr>
                        <a:t>Ask an admin to allow a blocked destination</a:t>
                      </a:r>
                      <a:endParaRPr lang="en-US" sz="1600" dirty="0"/>
                    </a:p>
                  </a:txBody>
                  <a:tcPr marL="128016" marR="128016"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475488">
                <a:tc>
                  <a:txBody>
                    <a:bodyPr/>
                    <a:lstStyle/>
                    <a:p>
                      <a:pPr indent="0" marL="0">
                        <a:buNone/>
                      </a:pPr>
                      <a:r>
                        <a:rPr lang="en-US" sz="1600" b="1" dirty="0">
                          <a:solidFill>
                            <a:schemeClr val="tx1"/>
                          </a:solidFill>
                        </a:rPr>
                        <a:t>devguard exception status</a:t>
                      </a:r>
                      <a:endParaRPr lang="en-US" sz="1600" dirty="0"/>
                    </a:p>
                  </a:txBody>
                  <a:tcPr marL="128016" marR="128016"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See your requests: waiting, approved, rejected</a:t>
                      </a:r>
                      <a:endParaRPr lang="en-US" sz="1600" dirty="0"/>
                    </a:p>
                  </a:txBody>
                  <a:tcPr marL="128016" marR="128016"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75488">
                <a:tc>
                  <a:txBody>
                    <a:bodyPr/>
                    <a:lstStyle/>
                    <a:p>
                      <a:pPr indent="0" marL="0">
                        <a:buNone/>
                      </a:pPr>
                      <a:r>
                        <a:rPr lang="en-US" sz="1600" b="1" dirty="0">
                          <a:solidFill>
                            <a:schemeClr val="tx1"/>
                          </a:solidFill>
                        </a:rPr>
                        <a:t>devguard register</a:t>
                      </a:r>
                      <a:endParaRPr lang="en-US" sz="1600" dirty="0"/>
                    </a:p>
                  </a:txBody>
                  <a:tcPr marL="128016" marR="128016"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600" dirty="0">
                          <a:solidFill>
                            <a:schemeClr val="tx1"/>
                          </a:solidFill>
                        </a:rPr>
                        <a:t>Link a repository to a project by hand</a:t>
                      </a:r>
                      <a:endParaRPr lang="en-US" sz="1600" dirty="0"/>
                    </a:p>
                  </a:txBody>
                  <a:tcPr marL="128016" marR="128016"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475488">
                <a:tc>
                  <a:txBody>
                    <a:bodyPr/>
                    <a:lstStyle/>
                    <a:p>
                      <a:pPr indent="0" marL="0">
                        <a:buNone/>
                      </a:pPr>
                      <a:r>
                        <a:rPr lang="en-US" sz="1600" b="1" dirty="0">
                          <a:solidFill>
                            <a:schemeClr val="tx1"/>
                          </a:solidFill>
                        </a:rPr>
                        <a:t>devguard install / uninstall</a:t>
                      </a:r>
                      <a:endParaRPr lang="en-US" sz="1600" dirty="0"/>
                    </a:p>
                  </a:txBody>
                  <a:tcPr marL="128016" marR="128016"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Add or remove the hook; uninstall restores Git</a:t>
                      </a:r>
                      <a:endParaRPr lang="en-US" sz="1600" dirty="0"/>
                    </a:p>
                  </a:txBody>
                  <a:tcPr marL="128016" marR="128016"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Eyebrow"/>
          <p:cNvSpPr txBox="1"/>
          <p:nvPr/>
        </p:nvSpPr>
        <p:spPr>
          <a:xfrm>
            <a:off x="548640" y="438912"/>
            <a:ext cx="11091672"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PART 2 OF 3</a:t>
            </a:r>
            <a:endParaRPr lang="en-US" sz="1200" dirty="0"/>
          </a:p>
        </p:txBody>
      </p:sp>
      <p:sp>
        <p:nvSpPr>
          <p:cNvPr id="4" name="Text 0"/>
          <p:cNvSpPr/>
          <p:nvPr>
            <p:ph idx="100" type="title" hasCustomPrompt="1"/>
          </p:nvPr>
        </p:nvSpPr>
        <p:spPr>
          <a:xfrm>
            <a:off x="548640" y="777240"/>
            <a:ext cx="11091672" cy="1051560"/>
          </a:xfrm>
          <a:prstGeom prst="rect">
            <a:avLst/>
          </a:prstGeom>
          <a:noFill/>
          <a:ln/>
        </p:spPr>
        <p:txBody>
          <a:bodyPr wrap="square" lIns="0" tIns="0" rIns="0" bIns="0" rtlCol="0" anchor="t"/>
          <a:lstStyle/>
          <a:p>
            <a:pPr algn="l" indent="0" marL="0">
              <a:buNone/>
            </a:pPr>
            <a:r>
              <a:rPr lang="en-US" sz="3400" b="1" dirty="0">
                <a:solidFill>
                  <a:schemeClr val="tx1"/>
                </a:solidFill>
              </a:rPr>
              <a:t>The control server (API)</a:t>
            </a:r>
            <a:endParaRPr lang="en-US" sz="3400" dirty="0"/>
          </a:p>
        </p:txBody>
      </p:sp>
      <p:sp>
        <p:nvSpPr>
          <p:cNvPr id="5" name="Card"/>
          <p:cNvSpPr/>
          <p:nvPr/>
        </p:nvSpPr>
        <p:spPr>
          <a:xfrm>
            <a:off x="548640" y="2011680"/>
            <a:ext cx="5440680" cy="3429000"/>
          </a:xfrm>
          <a:prstGeom prst="roundRect">
            <a:avLst>
              <a:gd name="adj" fmla="val 3200"/>
            </a:avLst>
          </a:prstGeom>
          <a:solidFill>
            <a:schemeClr val="bg1"/>
          </a:solidFill>
          <a:ln w="9525">
            <a:solidFill>
              <a:srgbClr val="E2E8F0"/>
            </a:solidFill>
            <a:prstDash val="solid"/>
          </a:ln>
          <a:effectLst>
            <a:outerShdw sx="100000" sy="100000" kx="0" ky="0" algn="bl" rotWithShape="0" blurRad="101600" dist="25400" dir="5400000">
              <a:srgbClr val="000000">
                <a:alpha val="7000"/>
              </a:srgbClr>
            </a:outerShdw>
          </a:effectLst>
        </p:spPr>
      </p:sp>
      <p:sp>
        <p:nvSpPr>
          <p:cNvPr id="6" name="Text 3"/>
          <p:cNvSpPr txBox="1"/>
          <p:nvPr/>
        </p:nvSpPr>
        <p:spPr>
          <a:xfrm>
            <a:off x="914400" y="2240280"/>
            <a:ext cx="4709160" cy="457200"/>
          </a:xfrm>
          <a:prstGeom prst="rect">
            <a:avLst/>
          </a:prstGeom>
          <a:noFill/>
          <a:ln/>
        </p:spPr>
        <p:txBody>
          <a:bodyPr wrap="square" lIns="0" tIns="0" rIns="0" bIns="0" rtlCol="0" anchor="t"/>
          <a:lstStyle/>
          <a:p>
            <a:pPr indent="0" marL="0">
              <a:buNone/>
            </a:pPr>
            <a:r>
              <a:rPr lang="en-US" sz="2400" b="1" dirty="0">
                <a:solidFill>
                  <a:schemeClr val="accent2"/>
                </a:solidFill>
              </a:rPr>
              <a:t>Its job</a:t>
            </a:r>
            <a:endParaRPr lang="en-US" sz="2400" dirty="0"/>
          </a:p>
        </p:txBody>
      </p:sp>
      <p:sp>
        <p:nvSpPr>
          <p:cNvPr id="7" name="Text 4"/>
          <p:cNvSpPr txBox="1"/>
          <p:nvPr/>
        </p:nvSpPr>
        <p:spPr>
          <a:xfrm>
            <a:off x="914400" y="2834640"/>
            <a:ext cx="4709160" cy="246888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Sign-in, and a separate secret per laptop</a:t>
            </a:r>
            <a:endParaRPr lang="en-US" sz="1700" dirty="0"/>
          </a:p>
          <a:p>
            <a:pPr marL="342900" indent="-342900">
              <a:spcAft>
                <a:spcPts val="800"/>
              </a:spcAft>
              <a:buSzPct val="100000"/>
              <a:buChar char="•"/>
            </a:pPr>
            <a:r>
              <a:rPr lang="en-US" sz="1700" dirty="0">
                <a:solidFill>
                  <a:schemeClr val="tx1"/>
                </a:solidFill>
              </a:rPr>
              <a:t>Projects, destinations and versioned policies</a:t>
            </a:r>
            <a:endParaRPr lang="en-US" sz="1700" dirty="0"/>
          </a:p>
          <a:p>
            <a:pPr marL="342900" indent="-342900">
              <a:spcAft>
                <a:spcPts val="800"/>
              </a:spcAft>
              <a:buSzPct val="100000"/>
              <a:buChar char="•"/>
            </a:pPr>
            <a:r>
              <a:rPr lang="en-US" sz="1700" dirty="0">
                <a:solidFill>
                  <a:schemeClr val="tx1"/>
                </a:solidFill>
              </a:rPr>
              <a:t>Enrollment tokens and device revocation</a:t>
            </a:r>
            <a:endParaRPr lang="en-US" sz="1700" dirty="0"/>
          </a:p>
          <a:p>
            <a:pPr marL="342900" indent="-342900">
              <a:spcAft>
                <a:spcPts val="800"/>
              </a:spcAft>
              <a:buSzPct val="100000"/>
              <a:buChar char="•"/>
            </a:pPr>
            <a:r>
              <a:rPr lang="en-US" sz="1700" dirty="0">
                <a:solidFill>
                  <a:schemeClr val="tx1"/>
                </a:solidFill>
              </a:rPr>
              <a:t>Events, exceptions and audit history</a:t>
            </a:r>
            <a:endParaRPr lang="en-US" sz="1700" dirty="0"/>
          </a:p>
          <a:p>
            <a:pPr marL="342900" indent="-342900">
              <a:spcAft>
                <a:spcPts val="800"/>
              </a:spcAft>
              <a:buSzPct val="100000"/>
              <a:buChar char="•"/>
            </a:pPr>
            <a:r>
              <a:rPr lang="en-US" sz="1700" dirty="0">
                <a:solidFill>
                  <a:schemeClr val="tx1"/>
                </a:solidFill>
              </a:rPr>
              <a:t>Email alerts to administrators</a:t>
            </a:r>
            <a:endParaRPr lang="en-US" sz="1700" dirty="0"/>
          </a:p>
        </p:txBody>
      </p:sp>
      <p:sp>
        <p:nvSpPr>
          <p:cNvPr id="8" name="Card"/>
          <p:cNvSpPr/>
          <p:nvPr/>
        </p:nvSpPr>
        <p:spPr>
          <a:xfrm>
            <a:off x="6199632" y="2011680"/>
            <a:ext cx="5440680" cy="3429000"/>
          </a:xfrm>
          <a:prstGeom prst="roundRect">
            <a:avLst>
              <a:gd name="adj" fmla="val 3200"/>
            </a:avLst>
          </a:prstGeom>
          <a:solidFill>
            <a:schemeClr val="bg1"/>
          </a:solidFill>
          <a:ln w="9525">
            <a:solidFill>
              <a:srgbClr val="E2E8F0"/>
            </a:solidFill>
            <a:prstDash val="solid"/>
          </a:ln>
          <a:effectLst>
            <a:outerShdw sx="100000" sy="100000" kx="0" ky="0" algn="bl" rotWithShape="0" blurRad="101600" dist="25400" dir="5400000">
              <a:srgbClr val="000000">
                <a:alpha val="7000"/>
              </a:srgbClr>
            </a:outerShdw>
          </a:effectLst>
        </p:spPr>
      </p:sp>
      <p:sp>
        <p:nvSpPr>
          <p:cNvPr id="9" name="Text 6"/>
          <p:cNvSpPr txBox="1"/>
          <p:nvPr/>
        </p:nvSpPr>
        <p:spPr>
          <a:xfrm>
            <a:off x="6565392" y="2240280"/>
            <a:ext cx="4709160" cy="457200"/>
          </a:xfrm>
          <a:prstGeom prst="rect">
            <a:avLst/>
          </a:prstGeom>
          <a:noFill/>
          <a:ln/>
        </p:spPr>
        <p:txBody>
          <a:bodyPr wrap="square" lIns="0" tIns="0" rIns="0" bIns="0" rtlCol="0" anchor="t"/>
          <a:lstStyle/>
          <a:p>
            <a:pPr indent="0" marL="0">
              <a:buNone/>
            </a:pPr>
            <a:r>
              <a:rPr lang="en-US" sz="2400" b="1" dirty="0">
                <a:solidFill>
                  <a:schemeClr val="accent1"/>
                </a:solidFill>
              </a:rPr>
              <a:t>Rules it enforces</a:t>
            </a:r>
            <a:endParaRPr lang="en-US" sz="2400" dirty="0"/>
          </a:p>
        </p:txBody>
      </p:sp>
      <p:sp>
        <p:nvSpPr>
          <p:cNvPr id="10" name="Text 7"/>
          <p:cNvSpPr txBox="1"/>
          <p:nvPr/>
        </p:nvSpPr>
        <p:spPr>
          <a:xfrm>
            <a:off x="6565392" y="2834640"/>
            <a:ext cx="4709160" cy="246888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Every action is permission-checked on the server</a:t>
            </a:r>
            <a:endParaRPr lang="en-US" sz="1700" dirty="0"/>
          </a:p>
          <a:p>
            <a:pPr marL="342900" indent="-342900">
              <a:spcAft>
                <a:spcPts val="800"/>
              </a:spcAft>
              <a:buSzPct val="100000"/>
              <a:buChar char="•"/>
            </a:pPr>
            <a:r>
              <a:rPr lang="en-US" sz="1700" dirty="0">
                <a:solidFill>
                  <a:schemeClr val="tx1"/>
                </a:solidFill>
              </a:rPr>
              <a:t>A second admin must approve an exception</a:t>
            </a:r>
            <a:endParaRPr lang="en-US" sz="1700" dirty="0"/>
          </a:p>
          <a:p>
            <a:pPr marL="342900" indent="-342900">
              <a:spcAft>
                <a:spcPts val="800"/>
              </a:spcAft>
              <a:buSzPct val="100000"/>
              <a:buChar char="•"/>
            </a:pPr>
            <a:r>
              <a:rPr lang="en-US" sz="1700" dirty="0">
                <a:solidFill>
                  <a:schemeClr val="tx1"/>
                </a:solidFill>
              </a:rPr>
              <a:t>Scope and expiry are checked every time</a:t>
            </a:r>
            <a:endParaRPr lang="en-US" sz="1700" dirty="0"/>
          </a:p>
          <a:p>
            <a:pPr marL="342900" indent="-342900">
              <a:spcAft>
                <a:spcPts val="800"/>
              </a:spcAft>
              <a:buSzPct val="100000"/>
              <a:buChar char="•"/>
            </a:pPr>
            <a:r>
              <a:rPr lang="en-US" sz="1700" dirty="0">
                <a:solidFill>
                  <a:schemeClr val="tx1"/>
                </a:solidFill>
              </a:rPr>
              <a:t>Secrets and tokens are stored only as hashes</a:t>
            </a:r>
            <a:endParaRPr lang="en-US" sz="1700" dirty="0"/>
          </a:p>
          <a:p>
            <a:pPr marL="342900" indent="-342900">
              <a:spcAft>
                <a:spcPts val="800"/>
              </a:spcAft>
              <a:buSzPct val="100000"/>
              <a:buChar char="•"/>
            </a:pPr>
            <a:r>
              <a:rPr lang="en-US" sz="1700" dirty="0">
                <a:solidFill>
                  <a:schemeClr val="tx1"/>
                </a:solidFill>
              </a:rPr>
              <a:t>The audit history can only be added to</a:t>
            </a:r>
            <a:endParaRPr lang="en-US" sz="1700" dirty="0"/>
          </a:p>
        </p:txBody>
      </p:sp>
      <p:sp>
        <p:nvSpPr>
          <p:cNvPr id="11" name="Text 8"/>
          <p:cNvSpPr txBox="1"/>
          <p:nvPr/>
        </p:nvSpPr>
        <p:spPr>
          <a:xfrm>
            <a:off x="548640" y="5715000"/>
            <a:ext cx="11091672" cy="365760"/>
          </a:xfrm>
          <a:prstGeom prst="rect">
            <a:avLst/>
          </a:prstGeom>
          <a:noFill/>
          <a:ln/>
        </p:spPr>
        <p:txBody>
          <a:bodyPr wrap="square" lIns="0" tIns="0" rIns="0" bIns="0" rtlCol="0" anchor="t"/>
          <a:lstStyle/>
          <a:p>
            <a:pPr indent="0" marL="0">
              <a:buNone/>
            </a:pPr>
            <a:r>
              <a:rPr lang="en-US" sz="1500" dirty="0">
                <a:solidFill>
                  <a:schemeClr val="accent6"/>
                </a:solidFill>
              </a:rPr>
              <a:t>Built with NestJS, Prisma and PostgreSQL. Interactive API reference at /docs outside production.</a:t>
            </a:r>
            <a:endParaRPr lang="en-US" sz="15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Eyebrow"/>
          <p:cNvSpPr txBox="1"/>
          <p:nvPr/>
        </p:nvSpPr>
        <p:spPr>
          <a:xfrm>
            <a:off x="548640" y="438912"/>
            <a:ext cx="11091672"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PART 3 OF 3</a:t>
            </a:r>
            <a:endParaRPr lang="en-US" sz="1200" dirty="0"/>
          </a:p>
        </p:txBody>
      </p:sp>
      <p:sp>
        <p:nvSpPr>
          <p:cNvPr id="4" name="Text 0"/>
          <p:cNvSpPr/>
          <p:nvPr>
            <p:ph idx="100" type="title" hasCustomPrompt="1"/>
          </p:nvPr>
        </p:nvSpPr>
        <p:spPr>
          <a:xfrm>
            <a:off x="548640" y="777240"/>
            <a:ext cx="11091672" cy="1051560"/>
          </a:xfrm>
          <a:prstGeom prst="rect">
            <a:avLst/>
          </a:prstGeom>
          <a:noFill/>
          <a:ln/>
        </p:spPr>
        <p:txBody>
          <a:bodyPr wrap="square" lIns="0" tIns="0" rIns="0" bIns="0" rtlCol="0" anchor="t"/>
          <a:lstStyle/>
          <a:p>
            <a:pPr algn="l" indent="0" marL="0">
              <a:buNone/>
            </a:pPr>
            <a:r>
              <a:rPr lang="en-US" sz="3400" b="1" dirty="0">
                <a:solidFill>
                  <a:schemeClr val="tx1"/>
                </a:solidFill>
              </a:rPr>
              <a:t>The dashboard</a:t>
            </a:r>
            <a:endParaRPr lang="en-US" sz="3400" dirty="0"/>
          </a:p>
        </p:txBody>
      </p:sp>
      <p:graphicFrame>
        <p:nvGraphicFramePr>
          <p:cNvPr id="13" name="Screens table"/>
          <p:cNvGraphicFramePr>
            <a:graphicFrameLocks noGrp="1"/>
          </p:cNvGraphicFramePr>
          <p:nvPr>
            <p:extLst>
              <p:ext uri="{D42A27DB-BD31-4B8C-83A1-F6EECF244321}">
                <p14:modId xmlns:p14="http://schemas.microsoft.com/office/powerpoint/2010/main" val="1579011935"/>
              </p:ext>
            </p:extLst>
          </p:nvPr>
        </p:nvGraphicFramePr>
        <p:xfrm>
          <a:off x="548640" y="1920240"/>
          <a:ext cx="11091672" cy="914400"/>
        </p:xfrm>
        <a:graphic>
          <a:graphicData uri="http://schemas.openxmlformats.org/drawingml/2006/table">
            <a:tbl>
              <a:tblPr/>
              <a:tblGrid>
                <a:gridCol w="2194560"/>
                <a:gridCol w="8897112"/>
              </a:tblGrid>
              <a:tr h="457200">
                <a:tc>
                  <a:txBody>
                    <a:bodyPr/>
                    <a:lstStyle/>
                    <a:p>
                      <a:pPr indent="0" marL="0">
                        <a:buNone/>
                      </a:pPr>
                      <a:r>
                        <a:rPr lang="en-US" sz="1600" b="1" dirty="0">
                          <a:solidFill>
                            <a:schemeClr val="bg1"/>
                          </a:solidFill>
                        </a:rPr>
                        <a:t>Screen</a:t>
                      </a:r>
                      <a:endParaRPr lang="en-US" sz="1600" dirty="0"/>
                    </a:p>
                  </a:txBody>
                  <a:tcPr marL="128016" marR="128016"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rPr>
                        <a:t>What you do there</a:t>
                      </a:r>
                      <a:endParaRPr lang="en-US" sz="1600" dirty="0"/>
                    </a:p>
                  </a:txBody>
                  <a:tcPr marL="128016" marR="128016"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tx2"/>
                    </a:solidFill>
                  </a:tcPr>
                </a:tc>
              </a:tr>
              <a:tr h="457200">
                <a:tc>
                  <a:txBody>
                    <a:bodyPr/>
                    <a:lstStyle/>
                    <a:p>
                      <a:pPr indent="0" marL="0">
                        <a:buNone/>
                      </a:pPr>
                      <a:r>
                        <a:rPr lang="en-US" sz="1600" b="1" dirty="0">
                          <a:solidFill>
                            <a:schemeClr val="tx1"/>
                          </a:solidFill>
                        </a:rPr>
                        <a:t>Overview</a:t>
                      </a:r>
                      <a:endParaRPr lang="en-US" sz="1600" dirty="0"/>
                    </a:p>
                  </a:txBody>
                  <a:tcPr marL="128016" marR="128016"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See blocked and allowed pushes, pending approvals, laptops</a:t>
                      </a:r>
                      <a:endParaRPr lang="en-US" sz="1600" dirty="0"/>
                    </a:p>
                  </a:txBody>
                  <a:tcPr marL="128016" marR="128016"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indent="0" marL="0">
                        <a:buNone/>
                      </a:pPr>
                      <a:r>
                        <a:rPr lang="en-US" sz="1600" b="1" dirty="0">
                          <a:solidFill>
                            <a:schemeClr val="tx1"/>
                          </a:solidFill>
                        </a:rPr>
                        <a:t>Events</a:t>
                      </a:r>
                      <a:endParaRPr lang="en-US" sz="1600" dirty="0"/>
                    </a:p>
                  </a:txBody>
                  <a:tcPr marL="128016" marR="128016"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600" dirty="0">
                          <a:solidFill>
                            <a:schemeClr val="tx1"/>
                          </a:solidFill>
                        </a:rPr>
                        <a:t>Browse pushes, filter them, find one by its Reference</a:t>
                      </a:r>
                      <a:endParaRPr lang="en-US" sz="1600" dirty="0"/>
                    </a:p>
                  </a:txBody>
                  <a:tcPr marL="128016" marR="128016"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457200">
                <a:tc>
                  <a:txBody>
                    <a:bodyPr/>
                    <a:lstStyle/>
                    <a:p>
                      <a:pPr indent="0" marL="0">
                        <a:buNone/>
                      </a:pPr>
                      <a:r>
                        <a:rPr lang="en-US" sz="1600" b="1" dirty="0">
                          <a:solidFill>
                            <a:schemeClr val="tx1"/>
                          </a:solidFill>
                        </a:rPr>
                        <a:t>Approvals</a:t>
                      </a:r>
                      <a:endParaRPr lang="en-US" sz="1600" dirty="0"/>
                    </a:p>
                  </a:txBody>
                  <a:tcPr marL="128016" marR="128016"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Approve, reject or revoke exception requests</a:t>
                      </a:r>
                      <a:endParaRPr lang="en-US" sz="1600" dirty="0"/>
                    </a:p>
                  </a:txBody>
                  <a:tcPr marL="128016" marR="128016"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indent="0" marL="0">
                        <a:buNone/>
                      </a:pPr>
                      <a:r>
                        <a:rPr lang="en-US" sz="1600" b="1" dirty="0">
                          <a:solidFill>
                            <a:schemeClr val="tx1"/>
                          </a:solidFill>
                        </a:rPr>
                        <a:t>Projects</a:t>
                      </a:r>
                      <a:endParaRPr lang="en-US" sz="1600" dirty="0"/>
                    </a:p>
                  </a:txBody>
                  <a:tcPr marL="128016" marR="128016"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600" dirty="0">
                          <a:solidFill>
                            <a:schemeClr val="tx1"/>
                          </a:solidFill>
                        </a:rPr>
                        <a:t>Set destinations, policy and who is covered</a:t>
                      </a:r>
                      <a:endParaRPr lang="en-US" sz="1600" dirty="0"/>
                    </a:p>
                  </a:txBody>
                  <a:tcPr marL="128016" marR="128016"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457200">
                <a:tc>
                  <a:txBody>
                    <a:bodyPr/>
                    <a:lstStyle/>
                    <a:p>
                      <a:pPr indent="0" marL="0">
                        <a:buNone/>
                      </a:pPr>
                      <a:r>
                        <a:rPr lang="en-US" sz="1600" b="1" dirty="0">
                          <a:solidFill>
                            <a:schemeClr val="tx1"/>
                          </a:solidFill>
                        </a:rPr>
                        <a:t>Devices</a:t>
                      </a:r>
                      <a:endParaRPr lang="en-US" sz="1600" dirty="0"/>
                    </a:p>
                  </a:txBody>
                  <a:tcPr marL="128016" marR="128016"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Enroll laptops, see last seen, revoke a laptop</a:t>
                      </a:r>
                      <a:endParaRPr lang="en-US" sz="1600" dirty="0"/>
                    </a:p>
                  </a:txBody>
                  <a:tcPr marL="128016" marR="128016"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indent="0" marL="0">
                        <a:buNone/>
                      </a:pPr>
                      <a:r>
                        <a:rPr lang="en-US" sz="1600" b="1" dirty="0">
                          <a:solidFill>
                            <a:schemeClr val="tx1"/>
                          </a:solidFill>
                        </a:rPr>
                        <a:t>Audit</a:t>
                      </a:r>
                      <a:endParaRPr lang="en-US" sz="1600" dirty="0"/>
                    </a:p>
                  </a:txBody>
                  <a:tcPr marL="128016" marR="128016"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600" dirty="0">
                          <a:solidFill>
                            <a:schemeClr val="tx1"/>
                          </a:solidFill>
                        </a:rPr>
                        <a:t>Append-only history of every admin change</a:t>
                      </a:r>
                      <a:endParaRPr lang="en-US" sz="1600" dirty="0"/>
                    </a:p>
                  </a:txBody>
                  <a:tcPr marL="128016" marR="128016"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bl>
          </a:graphicData>
        </a:graphic>
      </p:graphicFrame>
      <p:sp>
        <p:nvSpPr>
          <p:cNvPr id="6" name="Text 2"/>
          <p:cNvSpPr/>
          <p:nvPr/>
        </p:nvSpPr>
        <p:spPr>
          <a:xfrm>
            <a:off x="548640" y="5440680"/>
            <a:ext cx="2103120" cy="411480"/>
          </a:xfrm>
          <a:prstGeom prst="roundRect">
            <a:avLst>
              <a:gd name="adj" fmla="val 48889"/>
            </a:avLst>
          </a:prstGeom>
          <a:solidFill>
            <a:srgbClr val="EEF2FF"/>
          </a:solidFill>
          <a:ln/>
        </p:spPr>
        <p:txBody>
          <a:bodyPr wrap="square" lIns="0" tIns="0" rIns="0" bIns="0" rtlCol="0" anchor="ctr"/>
          <a:lstStyle/>
          <a:p>
            <a:pPr algn="ctr" indent="0" marL="0">
              <a:buNone/>
            </a:pPr>
            <a:r>
              <a:rPr lang="en-US" sz="1400" b="1" dirty="0">
                <a:solidFill>
                  <a:schemeClr val="accent1"/>
                </a:solidFill>
              </a:rPr>
              <a:t>Works on phones</a:t>
            </a:r>
            <a:endParaRPr lang="en-US" sz="1400" dirty="0"/>
          </a:p>
        </p:txBody>
      </p:sp>
      <p:sp>
        <p:nvSpPr>
          <p:cNvPr id="7" name="Text 3"/>
          <p:cNvSpPr/>
          <p:nvPr/>
        </p:nvSpPr>
        <p:spPr>
          <a:xfrm>
            <a:off x="2834640" y="5440680"/>
            <a:ext cx="2560320" cy="411480"/>
          </a:xfrm>
          <a:prstGeom prst="roundRect">
            <a:avLst>
              <a:gd name="adj" fmla="val 48889"/>
            </a:avLst>
          </a:prstGeom>
          <a:solidFill>
            <a:srgbClr val="F0FDFA"/>
          </a:solidFill>
          <a:ln/>
        </p:spPr>
        <p:txBody>
          <a:bodyPr wrap="square" lIns="0" tIns="0" rIns="0" bIns="0" rtlCol="0" anchor="ctr"/>
          <a:lstStyle/>
          <a:p>
            <a:pPr algn="ctr" indent="0" marL="0">
              <a:buNone/>
            </a:pPr>
            <a:r>
              <a:rPr lang="en-US" sz="1400" b="1" dirty="0">
                <a:solidFill>
                  <a:schemeClr val="accent2"/>
                </a:solidFill>
              </a:rPr>
              <a:t>Light and dark theme</a:t>
            </a:r>
            <a:endParaRPr lang="en-US" sz="1400" dirty="0"/>
          </a:p>
        </p:txBody>
      </p:sp>
      <p:sp>
        <p:nvSpPr>
          <p:cNvPr id="8" name="Text 4"/>
          <p:cNvSpPr/>
          <p:nvPr/>
        </p:nvSpPr>
        <p:spPr>
          <a:xfrm>
            <a:off x="5577840" y="5440680"/>
            <a:ext cx="4023360" cy="411480"/>
          </a:xfrm>
          <a:prstGeom prst="roundRect">
            <a:avLst>
              <a:gd name="adj" fmla="val 48889"/>
            </a:avLst>
          </a:prstGeom>
          <a:solidFill>
            <a:srgbClr val="FFFBEB"/>
          </a:solidFill>
          <a:ln/>
        </p:spPr>
        <p:txBody>
          <a:bodyPr wrap="square" lIns="0" tIns="0" rIns="0" bIns="0" rtlCol="0" anchor="ctr"/>
          <a:lstStyle/>
          <a:p>
            <a:pPr algn="ctr" indent="0" marL="0">
              <a:buNone/>
            </a:pPr>
            <a:r>
              <a:rPr lang="en-US" sz="1400" b="1" dirty="0">
                <a:solidFill>
                  <a:schemeClr val="accent3"/>
                </a:solidFill>
              </a:rPr>
              <a:t>Keyboard and screen-reader friendly</a:t>
            </a:r>
            <a:endParaRPr lang="en-US" sz="14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Eyebrow"/>
          <p:cNvSpPr txBox="1"/>
          <p:nvPr/>
        </p:nvSpPr>
        <p:spPr>
          <a:xfrm>
            <a:off x="548640" y="438912"/>
            <a:ext cx="11091672"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WHAT IT SUPPORTS</a:t>
            </a:r>
            <a:endParaRPr lang="en-US" sz="1200" dirty="0"/>
          </a:p>
        </p:txBody>
      </p:sp>
      <p:sp>
        <p:nvSpPr>
          <p:cNvPr id="4" name="Text 0"/>
          <p:cNvSpPr/>
          <p:nvPr>
            <p:ph idx="100" type="title" hasCustomPrompt="1"/>
          </p:nvPr>
        </p:nvSpPr>
        <p:spPr>
          <a:xfrm>
            <a:off x="548640" y="777240"/>
            <a:ext cx="11091672" cy="1051560"/>
          </a:xfrm>
          <a:prstGeom prst="rect">
            <a:avLst/>
          </a:prstGeom>
          <a:noFill/>
          <a:ln/>
        </p:spPr>
        <p:txBody>
          <a:bodyPr wrap="square" lIns="0" tIns="0" rIns="0" bIns="0" rtlCol="0" anchor="t"/>
          <a:lstStyle/>
          <a:p>
            <a:pPr algn="l" indent="0" marL="0">
              <a:buNone/>
            </a:pPr>
            <a:r>
              <a:rPr lang="en-US" sz="3400" b="1" dirty="0">
                <a:solidFill>
                  <a:schemeClr val="tx1"/>
                </a:solidFill>
              </a:rPr>
              <a:t>Four checks on every protected push</a:t>
            </a:r>
            <a:endParaRPr lang="en-US" sz="3400" dirty="0"/>
          </a:p>
        </p:txBody>
      </p:sp>
      <p:sp>
        <p:nvSpPr>
          <p:cNvPr id="5" name="Card"/>
          <p:cNvSpPr/>
          <p:nvPr/>
        </p:nvSpPr>
        <p:spPr>
          <a:xfrm>
            <a:off x="548640" y="2057400"/>
            <a:ext cx="5440680" cy="1920240"/>
          </a:xfrm>
          <a:prstGeom prst="roundRect">
            <a:avLst>
              <a:gd name="adj" fmla="val 5714"/>
            </a:avLst>
          </a:prstGeom>
          <a:solidFill>
            <a:schemeClr val="bg1"/>
          </a:solidFill>
          <a:ln w="9525">
            <a:solidFill>
              <a:srgbClr val="E2E8F0"/>
            </a:solidFill>
            <a:prstDash val="solid"/>
          </a:ln>
          <a:effectLst>
            <a:outerShdw sx="100000" sy="100000" kx="0" ky="0" algn="bl" rotWithShape="0" blurRad="101600" dist="25400" dir="5400000">
              <a:srgbClr val="000000">
                <a:alpha val="7000"/>
              </a:srgbClr>
            </a:outerShdw>
          </a:effectLst>
        </p:spPr>
      </p:sp>
      <p:sp>
        <p:nvSpPr>
          <p:cNvPr id="6" name="Badge 1"/>
          <p:cNvSpPr/>
          <p:nvPr/>
        </p:nvSpPr>
        <p:spPr>
          <a:xfrm>
            <a:off x="822960" y="2313432"/>
            <a:ext cx="384048" cy="384048"/>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417320" y="2313432"/>
            <a:ext cx="4343400" cy="384048"/>
          </a:xfrm>
          <a:prstGeom prst="rect">
            <a:avLst/>
          </a:prstGeom>
          <a:noFill/>
          <a:ln/>
        </p:spPr>
        <p:txBody>
          <a:bodyPr wrap="square" lIns="0" tIns="0" rIns="0" bIns="0" rtlCol="0" anchor="ctr"/>
          <a:lstStyle/>
          <a:p>
            <a:pPr indent="0" marL="0">
              <a:buNone/>
            </a:pPr>
            <a:r>
              <a:rPr lang="en-US" sz="2200" b="1" dirty="0">
                <a:solidFill>
                  <a:schemeClr val="accent1"/>
                </a:solidFill>
              </a:rPr>
              <a:t>Approved destination</a:t>
            </a:r>
            <a:endParaRPr lang="en-US" sz="2200" dirty="0"/>
          </a:p>
        </p:txBody>
      </p:sp>
      <p:sp>
        <p:nvSpPr>
          <p:cNvPr id="8" name="Text 5"/>
          <p:cNvSpPr txBox="1"/>
          <p:nvPr/>
        </p:nvSpPr>
        <p:spPr>
          <a:xfrm>
            <a:off x="822960" y="2880360"/>
            <a:ext cx="4892040" cy="1005840"/>
          </a:xfrm>
          <a:prstGeom prst="rect">
            <a:avLst/>
          </a:prstGeom>
          <a:noFill/>
          <a:ln/>
        </p:spPr>
        <p:txBody>
          <a:bodyPr wrap="square" lIns="0" tIns="0" rIns="0" bIns="0" rtlCol="0" anchor="t"/>
          <a:lstStyle/>
          <a:p>
            <a:pPr indent="0" marL="0">
              <a:buNone/>
            </a:pPr>
            <a:r>
              <a:rPr lang="en-US" sz="1600" dirty="0">
                <a:solidFill>
                  <a:schemeClr val="accent6"/>
                </a:solidFill>
              </a:rPr>
              <a:t>Exact host and repository path. Look-alikes never match, and an address it cannot understand counts as not approved.</a:t>
            </a:r>
            <a:endParaRPr lang="en-US" sz="1600" dirty="0"/>
          </a:p>
        </p:txBody>
      </p:sp>
      <p:sp>
        <p:nvSpPr>
          <p:cNvPr id="9" name="Card"/>
          <p:cNvSpPr/>
          <p:nvPr/>
        </p:nvSpPr>
        <p:spPr>
          <a:xfrm>
            <a:off x="6199632" y="2057400"/>
            <a:ext cx="5440680" cy="1920240"/>
          </a:xfrm>
          <a:prstGeom prst="roundRect">
            <a:avLst>
              <a:gd name="adj" fmla="val 5714"/>
            </a:avLst>
          </a:prstGeom>
          <a:solidFill>
            <a:schemeClr val="bg1"/>
          </a:solidFill>
          <a:ln w="9525">
            <a:solidFill>
              <a:srgbClr val="E2E8F0"/>
            </a:solidFill>
            <a:prstDash val="solid"/>
          </a:ln>
          <a:effectLst>
            <a:outerShdw sx="100000" sy="100000" kx="0" ky="0" algn="bl" rotWithShape="0" blurRad="101600" dist="25400" dir="5400000">
              <a:srgbClr val="000000">
                <a:alpha val="7000"/>
              </a:srgbClr>
            </a:outerShdw>
          </a:effectLst>
        </p:spPr>
      </p:sp>
      <p:sp>
        <p:nvSpPr>
          <p:cNvPr id="10" name="Badge 2"/>
          <p:cNvSpPr/>
          <p:nvPr/>
        </p:nvSpPr>
        <p:spPr>
          <a:xfrm>
            <a:off x="6473952" y="2313432"/>
            <a:ext cx="384048" cy="384048"/>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7068312" y="2313432"/>
            <a:ext cx="4343400" cy="384048"/>
          </a:xfrm>
          <a:prstGeom prst="rect">
            <a:avLst/>
          </a:prstGeom>
          <a:noFill/>
          <a:ln/>
        </p:spPr>
        <p:txBody>
          <a:bodyPr wrap="square" lIns="0" tIns="0" rIns="0" bIns="0" rtlCol="0" anchor="ctr"/>
          <a:lstStyle/>
          <a:p>
            <a:pPr indent="0" marL="0">
              <a:buNone/>
            </a:pPr>
            <a:r>
              <a:rPr lang="en-US" sz="2200" b="1" dirty="0">
                <a:solidFill>
                  <a:schemeClr val="accent1"/>
                </a:solidFill>
              </a:rPr>
              <a:t>Address forms</a:t>
            </a:r>
            <a:endParaRPr lang="en-US" sz="2200" dirty="0"/>
          </a:p>
        </p:txBody>
      </p:sp>
      <p:sp>
        <p:nvSpPr>
          <p:cNvPr id="12" name="Text 9"/>
          <p:cNvSpPr txBox="1"/>
          <p:nvPr/>
        </p:nvSpPr>
        <p:spPr>
          <a:xfrm>
            <a:off x="6473952" y="2880360"/>
            <a:ext cx="4892040" cy="1005840"/>
          </a:xfrm>
          <a:prstGeom prst="rect">
            <a:avLst/>
          </a:prstGeom>
          <a:noFill/>
          <a:ln/>
        </p:spPr>
        <p:txBody>
          <a:bodyPr wrap="square" lIns="0" tIns="0" rIns="0" bIns="0" rtlCol="0" anchor="t"/>
          <a:lstStyle/>
          <a:p>
            <a:pPr indent="0" marL="0">
              <a:buNone/>
            </a:pPr>
            <a:r>
              <a:rPr lang="en-US" sz="1600" dirty="0">
                <a:solidFill>
                  <a:schemeClr val="accent6"/>
                </a:solidFill>
              </a:rPr>
              <a:t>HTTPS, SSH and scp-style addresses. Different spellings of one repository are treated as the same.</a:t>
            </a:r>
            <a:endParaRPr lang="en-US" sz="1600" dirty="0"/>
          </a:p>
        </p:txBody>
      </p:sp>
      <p:sp>
        <p:nvSpPr>
          <p:cNvPr id="13" name="Card"/>
          <p:cNvSpPr/>
          <p:nvPr/>
        </p:nvSpPr>
        <p:spPr>
          <a:xfrm>
            <a:off x="548640" y="4160520"/>
            <a:ext cx="5440680" cy="1920240"/>
          </a:xfrm>
          <a:prstGeom prst="roundRect">
            <a:avLst>
              <a:gd name="adj" fmla="val 5714"/>
            </a:avLst>
          </a:prstGeom>
          <a:solidFill>
            <a:schemeClr val="bg1"/>
          </a:solidFill>
          <a:ln w="9525">
            <a:solidFill>
              <a:srgbClr val="E2E8F0"/>
            </a:solidFill>
            <a:prstDash val="solid"/>
          </a:ln>
          <a:effectLst>
            <a:outerShdw sx="100000" sy="100000" kx="0" ky="0" algn="bl" rotWithShape="0" blurRad="101600" dist="25400" dir="5400000">
              <a:srgbClr val="000000">
                <a:alpha val="7000"/>
              </a:srgbClr>
            </a:outerShdw>
          </a:effectLst>
        </p:spPr>
      </p:sp>
      <p:sp>
        <p:nvSpPr>
          <p:cNvPr id="14" name="Badge 3"/>
          <p:cNvSpPr/>
          <p:nvPr/>
        </p:nvSpPr>
        <p:spPr>
          <a:xfrm>
            <a:off x="822960" y="4416552"/>
            <a:ext cx="384048" cy="384048"/>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2"/>
          <p:cNvSpPr txBox="1"/>
          <p:nvPr/>
        </p:nvSpPr>
        <p:spPr>
          <a:xfrm>
            <a:off x="1417320" y="4416552"/>
            <a:ext cx="4343400" cy="384048"/>
          </a:xfrm>
          <a:prstGeom prst="rect">
            <a:avLst/>
          </a:prstGeom>
          <a:noFill/>
          <a:ln/>
        </p:spPr>
        <p:txBody>
          <a:bodyPr wrap="square" lIns="0" tIns="0" rIns="0" bIns="0" rtlCol="0" anchor="ctr"/>
          <a:lstStyle/>
          <a:p>
            <a:pPr indent="0" marL="0">
              <a:buNone/>
            </a:pPr>
            <a:r>
              <a:rPr lang="en-US" sz="2200" b="1" dirty="0">
                <a:solidFill>
                  <a:schemeClr val="accent1"/>
                </a:solidFill>
              </a:rPr>
              <a:t>Prohibited files</a:t>
            </a:r>
            <a:endParaRPr lang="en-US" sz="2200" dirty="0"/>
          </a:p>
        </p:txBody>
      </p:sp>
      <p:sp>
        <p:nvSpPr>
          <p:cNvPr id="16" name="Text 13"/>
          <p:cNvSpPr txBox="1"/>
          <p:nvPr/>
        </p:nvSpPr>
        <p:spPr>
          <a:xfrm>
            <a:off x="822960" y="4983480"/>
            <a:ext cx="4892040" cy="1005840"/>
          </a:xfrm>
          <a:prstGeom prst="rect">
            <a:avLst/>
          </a:prstGeom>
          <a:noFill/>
          <a:ln/>
        </p:spPr>
        <p:txBody>
          <a:bodyPr wrap="square" lIns="0" tIns="0" rIns="0" bIns="0" rtlCol="0" anchor="t"/>
          <a:lstStyle/>
          <a:p>
            <a:pPr indent="0" marL="0">
              <a:buNone/>
            </a:pPr>
            <a:r>
              <a:rPr lang="en-US" sz="1600" dirty="0">
                <a:solidFill>
                  <a:schemeClr val="accent6"/>
                </a:solidFill>
              </a:rPr>
              <a:t>.env files, keys and certificates, SSH private keys, .npmrc, credentials.json and more. Editable per project.</a:t>
            </a:r>
            <a:endParaRPr lang="en-US" sz="1600" dirty="0"/>
          </a:p>
        </p:txBody>
      </p:sp>
      <p:sp>
        <p:nvSpPr>
          <p:cNvPr id="17" name="Card"/>
          <p:cNvSpPr/>
          <p:nvPr/>
        </p:nvSpPr>
        <p:spPr>
          <a:xfrm>
            <a:off x="6199632" y="4160520"/>
            <a:ext cx="5440680" cy="1920240"/>
          </a:xfrm>
          <a:prstGeom prst="roundRect">
            <a:avLst>
              <a:gd name="adj" fmla="val 5714"/>
            </a:avLst>
          </a:prstGeom>
          <a:solidFill>
            <a:schemeClr val="bg1"/>
          </a:solidFill>
          <a:ln w="9525">
            <a:solidFill>
              <a:srgbClr val="E2E8F0"/>
            </a:solidFill>
            <a:prstDash val="solid"/>
          </a:ln>
          <a:effectLst>
            <a:outerShdw sx="100000" sy="100000" kx="0" ky="0" algn="bl" rotWithShape="0" blurRad="101600" dist="25400" dir="5400000">
              <a:srgbClr val="000000">
                <a:alpha val="7000"/>
              </a:srgbClr>
            </a:outerShdw>
          </a:effectLst>
        </p:spPr>
      </p:sp>
      <p:sp>
        <p:nvSpPr>
          <p:cNvPr id="18" name="Badge 4"/>
          <p:cNvSpPr/>
          <p:nvPr/>
        </p:nvSpPr>
        <p:spPr>
          <a:xfrm>
            <a:off x="6473952" y="4416552"/>
            <a:ext cx="384048" cy="384048"/>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9" name="Text 16"/>
          <p:cNvSpPr txBox="1"/>
          <p:nvPr/>
        </p:nvSpPr>
        <p:spPr>
          <a:xfrm>
            <a:off x="7068312" y="4416552"/>
            <a:ext cx="4343400" cy="384048"/>
          </a:xfrm>
          <a:prstGeom prst="rect">
            <a:avLst/>
          </a:prstGeom>
          <a:noFill/>
          <a:ln/>
        </p:spPr>
        <p:txBody>
          <a:bodyPr wrap="square" lIns="0" tIns="0" rIns="0" bIns="0" rtlCol="0" anchor="ctr"/>
          <a:lstStyle/>
          <a:p>
            <a:pPr indent="0" marL="0">
              <a:buNone/>
            </a:pPr>
            <a:r>
              <a:rPr lang="en-US" sz="2200" b="1" dirty="0">
                <a:solidFill>
                  <a:schemeClr val="accent1"/>
                </a:solidFill>
              </a:rPr>
              <a:t>Secret patterns</a:t>
            </a:r>
            <a:endParaRPr lang="en-US" sz="2200" dirty="0"/>
          </a:p>
        </p:txBody>
      </p:sp>
      <p:sp>
        <p:nvSpPr>
          <p:cNvPr id="20" name="Text 17"/>
          <p:cNvSpPr txBox="1"/>
          <p:nvPr/>
        </p:nvSpPr>
        <p:spPr>
          <a:xfrm>
            <a:off x="6473952" y="4983480"/>
            <a:ext cx="4892040" cy="1005840"/>
          </a:xfrm>
          <a:prstGeom prst="rect">
            <a:avLst/>
          </a:prstGeom>
          <a:noFill/>
          <a:ln/>
        </p:spPr>
        <p:txBody>
          <a:bodyPr wrap="square" lIns="0" tIns="0" rIns="0" bIns="0" rtlCol="0" anchor="t"/>
          <a:lstStyle/>
          <a:p>
            <a:pPr indent="0" marL="0">
              <a:buNone/>
            </a:pPr>
            <a:r>
              <a:rPr lang="en-US" sz="1600" dirty="0">
                <a:solidFill>
                  <a:schemeClr val="accent6"/>
                </a:solidFill>
              </a:rPr>
              <a:t>Private keys, AWS, GitHub and Slack tokens and common provider tokens, including in deleted history.</a:t>
            </a:r>
            <a:endParaRPr lang="en-US" sz="16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Eyebrow"/>
          <p:cNvSpPr txBox="1"/>
          <p:nvPr/>
        </p:nvSpPr>
        <p:spPr>
          <a:xfrm>
            <a:off x="548640" y="438912"/>
            <a:ext cx="11091672"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WHAT IT SUPPORTS</a:t>
            </a:r>
            <a:endParaRPr lang="en-US" sz="1200" dirty="0"/>
          </a:p>
        </p:txBody>
      </p:sp>
      <p:sp>
        <p:nvSpPr>
          <p:cNvPr id="4" name="Text 0"/>
          <p:cNvSpPr/>
          <p:nvPr>
            <p:ph idx="100" type="title" hasCustomPrompt="1"/>
          </p:nvPr>
        </p:nvSpPr>
        <p:spPr>
          <a:xfrm>
            <a:off x="548640" y="777240"/>
            <a:ext cx="11091672" cy="1051560"/>
          </a:xfrm>
          <a:prstGeom prst="rect">
            <a:avLst/>
          </a:prstGeom>
          <a:noFill/>
          <a:ln/>
        </p:spPr>
        <p:txBody>
          <a:bodyPr wrap="square" lIns="0" tIns="0" rIns="0" bIns="0" rtlCol="0" anchor="t"/>
          <a:lstStyle/>
          <a:p>
            <a:pPr algn="l" indent="0" marL="0">
              <a:buNone/>
            </a:pPr>
            <a:r>
              <a:rPr lang="en-US" sz="3400" b="1" dirty="0">
                <a:solidFill>
                  <a:schemeClr val="tx1"/>
                </a:solidFill>
              </a:rPr>
              <a:t>Modes, exceptions and offline behaviour</a:t>
            </a:r>
            <a:endParaRPr lang="en-US" sz="3400" dirty="0"/>
          </a:p>
        </p:txBody>
      </p:sp>
      <p:sp>
        <p:nvSpPr>
          <p:cNvPr id="5" name="Card"/>
          <p:cNvSpPr/>
          <p:nvPr/>
        </p:nvSpPr>
        <p:spPr>
          <a:xfrm>
            <a:off x="548640" y="2057400"/>
            <a:ext cx="3566160" cy="2331720"/>
          </a:xfrm>
          <a:prstGeom prst="roundRect">
            <a:avLst>
              <a:gd name="adj" fmla="val 4706"/>
            </a:avLst>
          </a:prstGeom>
          <a:solidFill>
            <a:schemeClr val="bg1"/>
          </a:solidFill>
          <a:ln w="9525">
            <a:solidFill>
              <a:srgbClr val="E2E8F0"/>
            </a:solidFill>
            <a:prstDash val="solid"/>
          </a:ln>
          <a:effectLst>
            <a:outerShdw sx="100000" sy="100000" kx="0" ky="0" algn="bl" rotWithShape="0" blurRad="101600" dist="25400" dir="5400000">
              <a:srgbClr val="000000">
                <a:alpha val="7000"/>
              </a:srgbClr>
            </a:outerShdw>
          </a:effectLst>
        </p:spPr>
      </p:sp>
      <p:sp>
        <p:nvSpPr>
          <p:cNvPr id="6" name="Badge 1"/>
          <p:cNvSpPr/>
          <p:nvPr/>
        </p:nvSpPr>
        <p:spPr>
          <a:xfrm>
            <a:off x="822960" y="2286000"/>
            <a:ext cx="384048" cy="384048"/>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417320" y="2286000"/>
            <a:ext cx="2468880" cy="384048"/>
          </a:xfrm>
          <a:prstGeom prst="rect">
            <a:avLst/>
          </a:prstGeom>
          <a:noFill/>
          <a:ln/>
        </p:spPr>
        <p:txBody>
          <a:bodyPr wrap="square" lIns="0" tIns="0" rIns="0" bIns="0" rtlCol="0" anchor="ctr"/>
          <a:lstStyle/>
          <a:p>
            <a:pPr indent="0" marL="0">
              <a:buNone/>
            </a:pPr>
            <a:r>
              <a:rPr lang="en-US" sz="2400" b="1" dirty="0">
                <a:solidFill>
                  <a:schemeClr val="tx1"/>
                </a:solidFill>
              </a:rPr>
              <a:t>Enforce</a:t>
            </a:r>
            <a:endParaRPr lang="en-US" sz="2400" dirty="0"/>
          </a:p>
        </p:txBody>
      </p:sp>
      <p:sp>
        <p:nvSpPr>
          <p:cNvPr id="8" name="Text 5"/>
          <p:cNvSpPr txBox="1"/>
          <p:nvPr/>
        </p:nvSpPr>
        <p:spPr>
          <a:xfrm>
            <a:off x="822960" y="2926080"/>
            <a:ext cx="3017520" cy="1371600"/>
          </a:xfrm>
          <a:prstGeom prst="rect">
            <a:avLst/>
          </a:prstGeom>
          <a:noFill/>
          <a:ln/>
        </p:spPr>
        <p:txBody>
          <a:bodyPr wrap="square" lIns="0" tIns="0" rIns="0" bIns="0" rtlCol="0" anchor="t"/>
          <a:lstStyle/>
          <a:p>
            <a:pPr indent="0" marL="0">
              <a:buNone/>
            </a:pPr>
            <a:r>
              <a:rPr lang="en-US" sz="1600" dirty="0">
                <a:solidFill>
                  <a:schemeClr val="accent6"/>
                </a:solidFill>
              </a:rPr>
              <a:t>A problem blocks the push and explains why.</a:t>
            </a:r>
            <a:endParaRPr lang="en-US" sz="1600" dirty="0"/>
          </a:p>
        </p:txBody>
      </p:sp>
      <p:sp>
        <p:nvSpPr>
          <p:cNvPr id="9" name="Card"/>
          <p:cNvSpPr/>
          <p:nvPr/>
        </p:nvSpPr>
        <p:spPr>
          <a:xfrm>
            <a:off x="4311396" y="2057400"/>
            <a:ext cx="3566160" cy="2331720"/>
          </a:xfrm>
          <a:prstGeom prst="roundRect">
            <a:avLst>
              <a:gd name="adj" fmla="val 4706"/>
            </a:avLst>
          </a:prstGeom>
          <a:solidFill>
            <a:schemeClr val="bg1"/>
          </a:solidFill>
          <a:ln w="9525">
            <a:solidFill>
              <a:srgbClr val="E2E8F0"/>
            </a:solidFill>
            <a:prstDash val="solid"/>
          </a:ln>
          <a:effectLst>
            <a:outerShdw sx="100000" sy="100000" kx="0" ky="0" algn="bl" rotWithShape="0" blurRad="101600" dist="25400" dir="5400000">
              <a:srgbClr val="000000">
                <a:alpha val="7000"/>
              </a:srgbClr>
            </a:outerShdw>
          </a:effectLst>
        </p:spPr>
      </p:sp>
      <p:sp>
        <p:nvSpPr>
          <p:cNvPr id="10" name="Badge 2"/>
          <p:cNvSpPr/>
          <p:nvPr/>
        </p:nvSpPr>
        <p:spPr>
          <a:xfrm>
            <a:off x="4585716" y="2286000"/>
            <a:ext cx="384048" cy="384048"/>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8"/>
          <p:cNvSpPr txBox="1"/>
          <p:nvPr/>
        </p:nvSpPr>
        <p:spPr>
          <a:xfrm>
            <a:off x="5180076" y="2286000"/>
            <a:ext cx="2468880" cy="384048"/>
          </a:xfrm>
          <a:prstGeom prst="rect">
            <a:avLst/>
          </a:prstGeom>
          <a:noFill/>
          <a:ln/>
        </p:spPr>
        <p:txBody>
          <a:bodyPr wrap="square" lIns="0" tIns="0" rIns="0" bIns="0" rtlCol="0" anchor="ctr"/>
          <a:lstStyle/>
          <a:p>
            <a:pPr indent="0" marL="0">
              <a:buNone/>
            </a:pPr>
            <a:r>
              <a:rPr lang="en-US" sz="2400" b="1" dirty="0">
                <a:solidFill>
                  <a:schemeClr val="tx1"/>
                </a:solidFill>
              </a:rPr>
              <a:t>Audit-only</a:t>
            </a:r>
            <a:endParaRPr lang="en-US" sz="2400" dirty="0"/>
          </a:p>
        </p:txBody>
      </p:sp>
      <p:sp>
        <p:nvSpPr>
          <p:cNvPr id="12" name="Text 9"/>
          <p:cNvSpPr txBox="1"/>
          <p:nvPr/>
        </p:nvSpPr>
        <p:spPr>
          <a:xfrm>
            <a:off x="4585716" y="2926080"/>
            <a:ext cx="3017520" cy="1371600"/>
          </a:xfrm>
          <a:prstGeom prst="rect">
            <a:avLst/>
          </a:prstGeom>
          <a:noFill/>
          <a:ln/>
        </p:spPr>
        <p:txBody>
          <a:bodyPr wrap="square" lIns="0" tIns="0" rIns="0" bIns="0" rtlCol="0" anchor="t"/>
          <a:lstStyle/>
          <a:p>
            <a:pPr indent="0" marL="0">
              <a:buNone/>
            </a:pPr>
            <a:r>
              <a:rPr lang="en-US" sz="1600" dirty="0">
                <a:solidFill>
                  <a:schemeClr val="accent6"/>
                </a:solidFill>
              </a:rPr>
              <a:t>The push is allowed, and what would have been blocked is recorded. Good for trying a policy first.</a:t>
            </a:r>
            <a:endParaRPr lang="en-US" sz="1600" dirty="0"/>
          </a:p>
        </p:txBody>
      </p:sp>
      <p:sp>
        <p:nvSpPr>
          <p:cNvPr id="13" name="Card"/>
          <p:cNvSpPr/>
          <p:nvPr/>
        </p:nvSpPr>
        <p:spPr>
          <a:xfrm>
            <a:off x="8074152" y="2057400"/>
            <a:ext cx="3566160" cy="2331720"/>
          </a:xfrm>
          <a:prstGeom prst="roundRect">
            <a:avLst>
              <a:gd name="adj" fmla="val 4706"/>
            </a:avLst>
          </a:prstGeom>
          <a:solidFill>
            <a:schemeClr val="bg1"/>
          </a:solidFill>
          <a:ln w="9525">
            <a:solidFill>
              <a:srgbClr val="E2E8F0"/>
            </a:solidFill>
            <a:prstDash val="solid"/>
          </a:ln>
          <a:effectLst>
            <a:outerShdw sx="100000" sy="100000" kx="0" ky="0" algn="bl" rotWithShape="0" blurRad="101600" dist="25400" dir="5400000">
              <a:srgbClr val="000000">
                <a:alpha val="7000"/>
              </a:srgbClr>
            </a:outerShdw>
          </a:effectLst>
        </p:spPr>
      </p:sp>
      <p:sp>
        <p:nvSpPr>
          <p:cNvPr id="14" name="Badge 3"/>
          <p:cNvSpPr/>
          <p:nvPr/>
        </p:nvSpPr>
        <p:spPr>
          <a:xfrm>
            <a:off x="8348472" y="2286000"/>
            <a:ext cx="384048" cy="384048"/>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2"/>
          <p:cNvSpPr txBox="1"/>
          <p:nvPr/>
        </p:nvSpPr>
        <p:spPr>
          <a:xfrm>
            <a:off x="8942832" y="2286000"/>
            <a:ext cx="2468880" cy="384048"/>
          </a:xfrm>
          <a:prstGeom prst="rect">
            <a:avLst/>
          </a:prstGeom>
          <a:noFill/>
          <a:ln/>
        </p:spPr>
        <p:txBody>
          <a:bodyPr wrap="square" lIns="0" tIns="0" rIns="0" bIns="0" rtlCol="0" anchor="ctr"/>
          <a:lstStyle/>
          <a:p>
            <a:pPr indent="0" marL="0">
              <a:buNone/>
            </a:pPr>
            <a:r>
              <a:rPr lang="en-US" sz="2400" b="1" dirty="0">
                <a:solidFill>
                  <a:schemeClr val="tx1"/>
                </a:solidFill>
              </a:rPr>
              <a:t>Exceptions</a:t>
            </a:r>
            <a:endParaRPr lang="en-US" sz="2400" dirty="0"/>
          </a:p>
        </p:txBody>
      </p:sp>
      <p:sp>
        <p:nvSpPr>
          <p:cNvPr id="16" name="Text 13"/>
          <p:cNvSpPr txBox="1"/>
          <p:nvPr/>
        </p:nvSpPr>
        <p:spPr>
          <a:xfrm>
            <a:off x="8348472" y="2926080"/>
            <a:ext cx="3017520" cy="1371600"/>
          </a:xfrm>
          <a:prstGeom prst="rect">
            <a:avLst/>
          </a:prstGeom>
          <a:noFill/>
          <a:ln/>
        </p:spPr>
        <p:txBody>
          <a:bodyPr wrap="square" lIns="0" tIns="0" rIns="0" bIns="0" rtlCol="0" anchor="t"/>
          <a:lstStyle/>
          <a:p>
            <a:pPr indent="0" marL="0">
              <a:buNone/>
            </a:pPr>
            <a:r>
              <a:rPr lang="en-US" sz="1600" dirty="0">
                <a:solidFill>
                  <a:schemeClr val="accent6"/>
                </a:solidFill>
              </a:rPr>
              <a:t>One project, one destination, up to 72 hours. A second admin approves. Never waives a secret or prohibited-file block.</a:t>
            </a:r>
            <a:endParaRPr lang="en-US" sz="1600" dirty="0"/>
          </a:p>
        </p:txBody>
      </p:sp>
      <p:sp>
        <p:nvSpPr>
          <p:cNvPr id="17" name="Offline band"/>
          <p:cNvSpPr/>
          <p:nvPr/>
        </p:nvSpPr>
        <p:spPr>
          <a:xfrm>
            <a:off x="548640" y="4709160"/>
            <a:ext cx="11091672" cy="1417320"/>
          </a:xfrm>
          <a:prstGeom prst="roundRect">
            <a:avLst>
              <a:gd name="adj" fmla="val 7742"/>
            </a:avLst>
          </a:prstGeom>
          <a:solidFill>
            <a:schemeClr val="tx2"/>
          </a:solidFill>
          <a:ln w="6350">
            <a:solidFill>
              <a:schemeClr val="tx2"/>
            </a:solidFill>
            <a:prstDash val="solid"/>
          </a:ln>
        </p:spPr>
      </p:sp>
      <p:sp>
        <p:nvSpPr>
          <p:cNvPr id="18" name="Text 15"/>
          <p:cNvSpPr txBox="1"/>
          <p:nvPr/>
        </p:nvSpPr>
        <p:spPr>
          <a:xfrm>
            <a:off x="960120" y="4892040"/>
            <a:ext cx="10268712" cy="365760"/>
          </a:xfrm>
          <a:prstGeom prst="rect">
            <a:avLst/>
          </a:prstGeom>
          <a:noFill/>
          <a:ln/>
        </p:spPr>
        <p:txBody>
          <a:bodyPr wrap="square" lIns="0" tIns="0" rIns="0" bIns="0" rtlCol="0" anchor="t"/>
          <a:lstStyle/>
          <a:p>
            <a:pPr indent="0" marL="0">
              <a:buNone/>
            </a:pPr>
            <a:r>
              <a:rPr lang="en-US" sz="2200" b="1" dirty="0">
                <a:solidFill>
                  <a:srgbClr val="6EE7B7"/>
                </a:solidFill>
              </a:rPr>
              <a:t>When the server is unreachable</a:t>
            </a:r>
            <a:endParaRPr lang="en-US" sz="2200" dirty="0"/>
          </a:p>
        </p:txBody>
      </p:sp>
      <p:sp>
        <p:nvSpPr>
          <p:cNvPr id="19" name="Text 16"/>
          <p:cNvSpPr txBox="1"/>
          <p:nvPr/>
        </p:nvSpPr>
        <p:spPr>
          <a:xfrm>
            <a:off x="960120" y="5349240"/>
            <a:ext cx="10268712" cy="685800"/>
          </a:xfrm>
          <a:prstGeom prst="rect">
            <a:avLst/>
          </a:prstGeom>
          <a:noFill/>
          <a:ln/>
        </p:spPr>
        <p:txBody>
          <a:bodyPr wrap="square" lIns="0" tIns="0" rIns="0" bIns="0" rtlCol="0" anchor="t"/>
          <a:lstStyle/>
          <a:p>
            <a:pPr indent="0" marL="0">
              <a:buNone/>
            </a:pPr>
            <a:r>
              <a:rPr lang="en-US" sz="1700" dirty="0">
                <a:solidFill>
                  <a:srgbClr val="CBD5E1"/>
                </a:solidFill>
              </a:rPr>
              <a:t>Saved rules are used for up to 60 minutes. After that, enforce blocks and audit-only allows and records. Events wait in a local queue.</a:t>
            </a:r>
            <a:endParaRPr lang="en-US" sz="17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Eyebrow"/>
          <p:cNvSpPr txBox="1"/>
          <p:nvPr/>
        </p:nvSpPr>
        <p:spPr>
          <a:xfrm>
            <a:off x="548640" y="438912"/>
            <a:ext cx="11091672"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HOW TO USE IT</a:t>
            </a:r>
            <a:endParaRPr lang="en-US" sz="1200" dirty="0"/>
          </a:p>
        </p:txBody>
      </p:sp>
      <p:sp>
        <p:nvSpPr>
          <p:cNvPr id="4" name="Text 0"/>
          <p:cNvSpPr/>
          <p:nvPr>
            <p:ph idx="100" type="title" hasCustomPrompt="1"/>
          </p:nvPr>
        </p:nvSpPr>
        <p:spPr>
          <a:xfrm>
            <a:off x="548640" y="777240"/>
            <a:ext cx="11091672" cy="1051560"/>
          </a:xfrm>
          <a:prstGeom prst="rect">
            <a:avLst/>
          </a:prstGeom>
          <a:noFill/>
          <a:ln/>
        </p:spPr>
        <p:txBody>
          <a:bodyPr wrap="square" lIns="0" tIns="0" rIns="0" bIns="0" rtlCol="0" anchor="t"/>
          <a:lstStyle/>
          <a:p>
            <a:pPr algn="l" indent="0" marL="0">
              <a:buNone/>
            </a:pPr>
            <a:r>
              <a:rPr lang="en-US" sz="3400" b="1" dirty="0">
                <a:solidFill>
                  <a:schemeClr val="tx1"/>
                </a:solidFill>
              </a:rPr>
              <a:t>Getting started takes two short jobs</a:t>
            </a:r>
            <a:endParaRPr lang="en-US" sz="3400" dirty="0"/>
          </a:p>
        </p:txBody>
      </p:sp>
      <p:sp>
        <p:nvSpPr>
          <p:cNvPr id="5" name="Card"/>
          <p:cNvSpPr/>
          <p:nvPr/>
        </p:nvSpPr>
        <p:spPr>
          <a:xfrm>
            <a:off x="548640" y="2011680"/>
            <a:ext cx="5440680" cy="3383280"/>
          </a:xfrm>
          <a:prstGeom prst="roundRect">
            <a:avLst>
              <a:gd name="adj" fmla="val 3243"/>
            </a:avLst>
          </a:prstGeom>
          <a:solidFill>
            <a:schemeClr val="bg1"/>
          </a:solidFill>
          <a:ln w="9525">
            <a:solidFill>
              <a:srgbClr val="E2E8F0"/>
            </a:solidFill>
            <a:prstDash val="solid"/>
          </a:ln>
          <a:effectLst>
            <a:outerShdw sx="100000" sy="100000" kx="0" ky="0" algn="bl" rotWithShape="0" blurRad="101600" dist="25400" dir="5400000">
              <a:srgbClr val="000000">
                <a:alpha val="7000"/>
              </a:srgbClr>
            </a:outerShdw>
          </a:effectLst>
        </p:spPr>
      </p:sp>
      <p:sp>
        <p:nvSpPr>
          <p:cNvPr id="6" name="Text 3"/>
          <p:cNvSpPr txBox="1"/>
          <p:nvPr/>
        </p:nvSpPr>
        <p:spPr>
          <a:xfrm>
            <a:off x="914400" y="2194560"/>
            <a:ext cx="4754880" cy="411480"/>
          </a:xfrm>
          <a:prstGeom prst="rect">
            <a:avLst/>
          </a:prstGeom>
          <a:noFill/>
          <a:ln/>
        </p:spPr>
        <p:txBody>
          <a:bodyPr wrap="square" lIns="0" tIns="0" rIns="0" bIns="0" rtlCol="0" anchor="t"/>
          <a:lstStyle/>
          <a:p>
            <a:pPr indent="0" marL="0">
              <a:buNone/>
            </a:pPr>
            <a:r>
              <a:rPr lang="en-US" sz="2200" b="1" dirty="0">
                <a:solidFill>
                  <a:schemeClr val="accent1"/>
                </a:solidFill>
              </a:rPr>
              <a:t>Administrator, in the dashboard</a:t>
            </a:r>
            <a:endParaRPr lang="en-US" sz="2200" dirty="0"/>
          </a:p>
        </p:txBody>
      </p:sp>
      <p:sp>
        <p:nvSpPr>
          <p:cNvPr id="7" name="Text 4"/>
          <p:cNvSpPr txBox="1"/>
          <p:nvPr/>
        </p:nvSpPr>
        <p:spPr>
          <a:xfrm>
            <a:off x="914400" y="2788920"/>
            <a:ext cx="4754880" cy="237744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700" dirty="0">
                <a:solidFill>
                  <a:schemeClr val="tx1"/>
                </a:solidFill>
              </a:rPr>
              <a:t>Create a project and add its approved destination</a:t>
            </a:r>
            <a:endParaRPr lang="en-US" sz="1700" dirty="0"/>
          </a:p>
          <a:p>
            <a:pPr marL="342900" indent="-342900">
              <a:spcAft>
                <a:spcPts val="1000"/>
              </a:spcAft>
              <a:buSzPct val="100000"/>
              <a:buFont typeface="+mj-lt"/>
              <a:buAutoNum type="arabicPeriod" startAt="2"/>
            </a:pPr>
            <a:r>
              <a:rPr lang="en-US" sz="1700" dirty="0">
                <a:solidFill>
                  <a:schemeClr val="tx1"/>
                </a:solidFill>
              </a:rPr>
              <a:t>Choose the policy: Enforce or Audit only</a:t>
            </a:r>
            <a:endParaRPr lang="en-US" sz="1700" dirty="0"/>
          </a:p>
          <a:p>
            <a:pPr marL="342900" indent="-342900">
              <a:spcAft>
                <a:spcPts val="1000"/>
              </a:spcAft>
              <a:buSzPct val="100000"/>
              <a:buFont typeface="+mj-lt"/>
              <a:buAutoNum type="arabicPeriod" startAt="3"/>
            </a:pPr>
            <a:r>
              <a:rPr lang="en-US" sz="1700" dirty="0">
                <a:solidFill>
                  <a:schemeClr val="tx1"/>
                </a:solidFill>
              </a:rPr>
              <a:t>Tick the people who are covered</a:t>
            </a:r>
            <a:endParaRPr lang="en-US" sz="1700" dirty="0"/>
          </a:p>
          <a:p>
            <a:pPr marL="342900" indent="-342900">
              <a:spcAft>
                <a:spcPts val="1000"/>
              </a:spcAft>
              <a:buSzPct val="100000"/>
              <a:buFont typeface="+mj-lt"/>
              <a:buAutoNum type="arabicPeriod" startAt="4"/>
            </a:pPr>
            <a:r>
              <a:rPr lang="en-US" sz="1700" dirty="0">
                <a:solidFill>
                  <a:schemeClr val="tx1"/>
                </a:solidFill>
              </a:rPr>
              <a:t>Issue a one-time token, valid for 30 minutes</a:t>
            </a:r>
            <a:endParaRPr lang="en-US" sz="1700" dirty="0"/>
          </a:p>
        </p:txBody>
      </p:sp>
      <p:sp>
        <p:nvSpPr>
          <p:cNvPr id="8" name="Card"/>
          <p:cNvSpPr/>
          <p:nvPr/>
        </p:nvSpPr>
        <p:spPr>
          <a:xfrm>
            <a:off x="6199632" y="2011680"/>
            <a:ext cx="5440680" cy="3383280"/>
          </a:xfrm>
          <a:prstGeom prst="roundRect">
            <a:avLst>
              <a:gd name="adj" fmla="val 3243"/>
            </a:avLst>
          </a:prstGeom>
          <a:solidFill>
            <a:schemeClr val="bg1"/>
          </a:solidFill>
          <a:ln w="9525">
            <a:solidFill>
              <a:srgbClr val="E2E8F0"/>
            </a:solidFill>
            <a:prstDash val="solid"/>
          </a:ln>
          <a:effectLst>
            <a:outerShdw sx="100000" sy="100000" kx="0" ky="0" algn="bl" rotWithShape="0" blurRad="101600" dist="25400" dir="5400000">
              <a:srgbClr val="000000">
                <a:alpha val="7000"/>
              </a:srgbClr>
            </a:outerShdw>
          </a:effectLst>
        </p:spPr>
      </p:sp>
      <p:sp>
        <p:nvSpPr>
          <p:cNvPr id="9" name="Text 6"/>
          <p:cNvSpPr txBox="1"/>
          <p:nvPr/>
        </p:nvSpPr>
        <p:spPr>
          <a:xfrm>
            <a:off x="6565392" y="2194560"/>
            <a:ext cx="4754880" cy="411480"/>
          </a:xfrm>
          <a:prstGeom prst="rect">
            <a:avLst/>
          </a:prstGeom>
          <a:noFill/>
          <a:ln/>
        </p:spPr>
        <p:txBody>
          <a:bodyPr wrap="square" lIns="0" tIns="0" rIns="0" bIns="0" rtlCol="0" anchor="t"/>
          <a:lstStyle/>
          <a:p>
            <a:pPr indent="0" marL="0">
              <a:buNone/>
            </a:pPr>
            <a:r>
              <a:rPr lang="en-US" sz="2200" b="1" dirty="0">
                <a:solidFill>
                  <a:schemeClr val="accent2"/>
                </a:solidFill>
              </a:rPr>
              <a:t>Developer, once on the laptop</a:t>
            </a:r>
            <a:endParaRPr lang="en-US" sz="2200" dirty="0"/>
          </a:p>
        </p:txBody>
      </p:sp>
      <p:sp>
        <p:nvSpPr>
          <p:cNvPr id="10" name="Text 7"/>
          <p:cNvSpPr txBox="1"/>
          <p:nvPr/>
        </p:nvSpPr>
        <p:spPr>
          <a:xfrm>
            <a:off x="6565392" y="2788920"/>
            <a:ext cx="4754880" cy="118872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700" dirty="0">
                <a:solidFill>
                  <a:schemeClr val="tx1"/>
                </a:solidFill>
              </a:rPr>
              <a:t>Install the tool from the repository</a:t>
            </a:r>
            <a:endParaRPr lang="en-US" sz="1700" dirty="0"/>
          </a:p>
          <a:p>
            <a:pPr marL="342900" indent="-342900">
              <a:spcAft>
                <a:spcPts val="800"/>
              </a:spcAft>
              <a:buSzPct val="100000"/>
              <a:buFont typeface="+mj-lt"/>
              <a:buAutoNum type="arabicPeriod" startAt="2"/>
            </a:pPr>
            <a:r>
              <a:rPr lang="en-US" sz="1700" dirty="0">
                <a:solidFill>
                  <a:schemeClr val="tx1"/>
                </a:solidFill>
              </a:rPr>
              <a:t>Enroll with your token</a:t>
            </a:r>
            <a:endParaRPr lang="en-US" sz="1700" dirty="0"/>
          </a:p>
          <a:p>
            <a:pPr marL="342900" indent="-342900">
              <a:spcAft>
                <a:spcPts val="800"/>
              </a:spcAft>
              <a:buSzPct val="100000"/>
              <a:buFont typeface="+mj-lt"/>
              <a:buAutoNum type="arabicPeriod" startAt="3"/>
            </a:pPr>
            <a:r>
              <a:rPr lang="en-US" sz="1700" dirty="0">
                <a:solidFill>
                  <a:schemeClr val="tx1"/>
                </a:solidFill>
              </a:rPr>
              <a:t>Check it with devguard status</a:t>
            </a:r>
            <a:endParaRPr lang="en-US" sz="1700" dirty="0"/>
          </a:p>
        </p:txBody>
      </p:sp>
      <p:sp>
        <p:nvSpPr>
          <p:cNvPr id="11" name="Enroll command"/>
          <p:cNvSpPr/>
          <p:nvPr/>
        </p:nvSpPr>
        <p:spPr>
          <a:xfrm>
            <a:off x="6565392" y="4069080"/>
            <a:ext cx="4709160" cy="1097280"/>
          </a:xfrm>
          <a:prstGeom prst="roundRect">
            <a:avLst>
              <a:gd name="adj" fmla="val 8333"/>
            </a:avLst>
          </a:prstGeom>
          <a:solidFill>
            <a:schemeClr val="tx2"/>
          </a:solidFill>
          <a:ln w="6350">
            <a:solidFill>
              <a:schemeClr val="tx2"/>
            </a:solidFill>
            <a:prstDash val="solid"/>
          </a:ln>
        </p:spPr>
      </p:sp>
      <p:sp>
        <p:nvSpPr>
          <p:cNvPr id="12" name="Text 9"/>
          <p:cNvSpPr txBox="1"/>
          <p:nvPr/>
        </p:nvSpPr>
        <p:spPr>
          <a:xfrm>
            <a:off x="6720840" y="4178808"/>
            <a:ext cx="4389120" cy="914400"/>
          </a:xfrm>
          <a:prstGeom prst="rect">
            <a:avLst/>
          </a:prstGeom>
          <a:noFill/>
          <a:ln/>
        </p:spPr>
        <p:txBody>
          <a:bodyPr wrap="square" lIns="0" tIns="0" rIns="0" bIns="0" rtlCol="0" anchor="ctr"/>
          <a:lstStyle/>
          <a:p>
            <a:pPr indent="0" marL="0">
              <a:buNone/>
            </a:pPr>
            <a:r>
              <a:rPr lang="en-US" sz="1300" dirty="0">
                <a:solidFill>
                  <a:srgbClr val="7DD3FC"/>
                </a:solidFill>
                <a:latin typeface="Courier New" pitchFamily="34" charset="0"/>
                <a:ea typeface="Courier New" pitchFamily="34" charset="-122"/>
                <a:cs typeface="Courier New" pitchFamily="34" charset="-120"/>
              </a:rPr>
              <a:t>echo '&lt;token&gt;' | devguard enroll --server https://devguard.example.com --token-stdin</a:t>
            </a:r>
            <a:endParaRPr lang="en-US" sz="1300" dirty="0"/>
          </a:p>
        </p:txBody>
      </p:sp>
      <p:sp>
        <p:nvSpPr>
          <p:cNvPr id="13" name="Text 10"/>
          <p:cNvSpPr txBox="1"/>
          <p:nvPr/>
        </p:nvSpPr>
        <p:spPr>
          <a:xfrm>
            <a:off x="548640" y="5623560"/>
            <a:ext cx="11091672" cy="457200"/>
          </a:xfrm>
          <a:prstGeom prst="rect">
            <a:avLst/>
          </a:prstGeom>
          <a:noFill/>
          <a:ln/>
        </p:spPr>
        <p:txBody>
          <a:bodyPr wrap="square" lIns="0" tIns="0" rIns="0" bIns="0" rtlCol="0" anchor="t"/>
          <a:lstStyle/>
          <a:p>
            <a:pPr indent="0" marL="0">
              <a:buNone/>
            </a:pPr>
            <a:r>
              <a:rPr lang="en-US" sz="1600" dirty="0">
                <a:solidFill>
                  <a:schemeClr val="accent6"/>
                </a:solidFill>
              </a:rPr>
              <a:t>After that there is nothing more to do. Rule changes arrive at the next push, or with devguard sync.</a:t>
            </a:r>
            <a:endParaRPr lang="en-US" sz="16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Eyebrow"/>
          <p:cNvSpPr txBox="1"/>
          <p:nvPr/>
        </p:nvSpPr>
        <p:spPr>
          <a:xfrm>
            <a:off x="548640" y="438912"/>
            <a:ext cx="11091672"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EVERYDAY USE</a:t>
            </a:r>
            <a:endParaRPr lang="en-US" sz="1200" dirty="0"/>
          </a:p>
        </p:txBody>
      </p:sp>
      <p:sp>
        <p:nvSpPr>
          <p:cNvPr id="4" name="Text 0"/>
          <p:cNvSpPr/>
          <p:nvPr>
            <p:ph idx="100" type="title" hasCustomPrompt="1"/>
          </p:nvPr>
        </p:nvSpPr>
        <p:spPr>
          <a:xfrm>
            <a:off x="548640" y="777240"/>
            <a:ext cx="11091672" cy="1051560"/>
          </a:xfrm>
          <a:prstGeom prst="rect">
            <a:avLst/>
          </a:prstGeom>
          <a:noFill/>
          <a:ln/>
        </p:spPr>
        <p:txBody>
          <a:bodyPr wrap="square" lIns="0" tIns="0" rIns="0" bIns="0" rtlCol="0" anchor="t"/>
          <a:lstStyle/>
          <a:p>
            <a:pPr algn="l" indent="0" marL="0">
              <a:buNone/>
            </a:pPr>
            <a:r>
              <a:rPr lang="en-US" sz="3400" b="1" dirty="0">
                <a:solidFill>
                  <a:schemeClr val="tx1"/>
                </a:solidFill>
              </a:rPr>
              <a:t>When a push is blocked: ask for an exception</a:t>
            </a:r>
            <a:endParaRPr lang="en-US" sz="3400" dirty="0"/>
          </a:p>
        </p:txBody>
      </p:sp>
      <p:sp>
        <p:nvSpPr>
          <p:cNvPr id="5" name="Card"/>
          <p:cNvSpPr/>
          <p:nvPr/>
        </p:nvSpPr>
        <p:spPr>
          <a:xfrm>
            <a:off x="548640" y="2057400"/>
            <a:ext cx="2327148" cy="2103120"/>
          </a:xfrm>
          <a:prstGeom prst="roundRect">
            <a:avLst>
              <a:gd name="adj" fmla="val 5217"/>
            </a:avLst>
          </a:prstGeom>
          <a:solidFill>
            <a:srgbClr val="FEF2F2"/>
          </a:solidFill>
          <a:ln w="9525">
            <a:solidFill>
              <a:srgbClr val="FECACA"/>
            </a:solidFill>
            <a:prstDash val="solid"/>
          </a:ln>
        </p:spPr>
      </p:sp>
      <p:sp>
        <p:nvSpPr>
          <p:cNvPr id="6" name="Badge 1"/>
          <p:cNvSpPr/>
          <p:nvPr/>
        </p:nvSpPr>
        <p:spPr>
          <a:xfrm>
            <a:off x="749808" y="2240280"/>
            <a:ext cx="365760" cy="365760"/>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749808" y="2724912"/>
            <a:ext cx="1924812" cy="548640"/>
          </a:xfrm>
          <a:prstGeom prst="rect">
            <a:avLst/>
          </a:prstGeom>
          <a:noFill/>
          <a:ln/>
        </p:spPr>
        <p:txBody>
          <a:bodyPr wrap="square" lIns="0" tIns="0" rIns="0" bIns="0" rtlCol="0" anchor="t"/>
          <a:lstStyle/>
          <a:p>
            <a:pPr indent="0" marL="0">
              <a:buNone/>
            </a:pPr>
            <a:r>
              <a:rPr lang="en-US" sz="1600" b="1" dirty="0">
                <a:solidFill>
                  <a:schemeClr val="accent4"/>
                </a:solidFill>
              </a:rPr>
              <a:t>Push is blocked</a:t>
            </a:r>
            <a:endParaRPr lang="en-US" sz="1600" dirty="0"/>
          </a:p>
        </p:txBody>
      </p:sp>
      <p:sp>
        <p:nvSpPr>
          <p:cNvPr id="8" name="Text 5"/>
          <p:cNvSpPr txBox="1"/>
          <p:nvPr/>
        </p:nvSpPr>
        <p:spPr>
          <a:xfrm>
            <a:off x="749808" y="3364992"/>
            <a:ext cx="1924812" cy="731520"/>
          </a:xfrm>
          <a:prstGeom prst="rect">
            <a:avLst/>
          </a:prstGeom>
          <a:noFill/>
          <a:ln/>
        </p:spPr>
        <p:txBody>
          <a:bodyPr wrap="square" lIns="0" tIns="0" rIns="0" bIns="0" rtlCol="0" anchor="t"/>
          <a:lstStyle/>
          <a:p>
            <a:pPr indent="0" marL="0">
              <a:buNone/>
            </a:pPr>
            <a:r>
              <a:rPr lang="en-US" sz="1400" dirty="0">
                <a:solidFill>
                  <a:schemeClr val="accent6"/>
                </a:solidFill>
              </a:rPr>
              <a:t>The message shows the command to ask.</a:t>
            </a:r>
            <a:endParaRPr lang="en-US" sz="1400" dirty="0"/>
          </a:p>
        </p:txBody>
      </p:sp>
      <p:sp>
        <p:nvSpPr>
          <p:cNvPr id="9" name="Arrow"/>
          <p:cNvSpPr/>
          <p:nvPr/>
        </p:nvSpPr>
        <p:spPr>
          <a:xfrm>
            <a:off x="2967228" y="2834640"/>
            <a:ext cx="411480" cy="274320"/>
          </a:xfrm>
          <a:prstGeom prst="rightArrow">
            <a:avLst/>
          </a:prstGeom>
          <a:solidFill>
            <a:srgbClr val="94A3B8"/>
          </a:solidFill>
          <a:ln w="6350">
            <a:solidFill>
              <a:srgbClr val="94A3B8"/>
            </a:solidFill>
            <a:prstDash val="solid"/>
          </a:ln>
        </p:spPr>
      </p:sp>
      <p:sp>
        <p:nvSpPr>
          <p:cNvPr id="10" name="Card"/>
          <p:cNvSpPr/>
          <p:nvPr/>
        </p:nvSpPr>
        <p:spPr>
          <a:xfrm>
            <a:off x="3470148" y="2057400"/>
            <a:ext cx="2327148" cy="2103120"/>
          </a:xfrm>
          <a:prstGeom prst="roundRect">
            <a:avLst>
              <a:gd name="adj" fmla="val 5217"/>
            </a:avLst>
          </a:prstGeom>
          <a:solidFill>
            <a:srgbClr val="EEF2FF"/>
          </a:solidFill>
          <a:ln w="9525">
            <a:solidFill>
              <a:srgbClr val="C7D2FE"/>
            </a:solidFill>
            <a:prstDash val="solid"/>
          </a:ln>
        </p:spPr>
      </p:sp>
      <p:sp>
        <p:nvSpPr>
          <p:cNvPr id="11" name="Badge 2"/>
          <p:cNvSpPr/>
          <p:nvPr/>
        </p:nvSpPr>
        <p:spPr>
          <a:xfrm>
            <a:off x="3671316" y="2240280"/>
            <a:ext cx="365760" cy="36576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3671316" y="2724912"/>
            <a:ext cx="1924812" cy="548640"/>
          </a:xfrm>
          <a:prstGeom prst="rect">
            <a:avLst/>
          </a:prstGeom>
          <a:noFill/>
          <a:ln/>
        </p:spPr>
        <p:txBody>
          <a:bodyPr wrap="square" lIns="0" tIns="0" rIns="0" bIns="0" rtlCol="0" anchor="t"/>
          <a:lstStyle/>
          <a:p>
            <a:pPr indent="0" marL="0">
              <a:buNone/>
            </a:pPr>
            <a:r>
              <a:rPr lang="en-US" sz="1600" b="1" dirty="0">
                <a:solidFill>
                  <a:schemeClr val="accent1"/>
                </a:solidFill>
              </a:rPr>
              <a:t>Developer asks</a:t>
            </a:r>
            <a:endParaRPr lang="en-US" sz="1600" dirty="0"/>
          </a:p>
        </p:txBody>
      </p:sp>
      <p:sp>
        <p:nvSpPr>
          <p:cNvPr id="13" name="Text 10"/>
          <p:cNvSpPr txBox="1"/>
          <p:nvPr/>
        </p:nvSpPr>
        <p:spPr>
          <a:xfrm>
            <a:off x="3671316" y="3364992"/>
            <a:ext cx="1924812" cy="731520"/>
          </a:xfrm>
          <a:prstGeom prst="rect">
            <a:avLst/>
          </a:prstGeom>
          <a:noFill/>
          <a:ln/>
        </p:spPr>
        <p:txBody>
          <a:bodyPr wrap="square" lIns="0" tIns="0" rIns="0" bIns="0" rtlCol="0" anchor="t"/>
          <a:lstStyle/>
          <a:p>
            <a:pPr indent="0" marL="0">
              <a:buNone/>
            </a:pPr>
            <a:r>
              <a:rPr lang="en-US" sz="1400" dirty="0">
                <a:solidFill>
                  <a:schemeClr val="accent6"/>
                </a:solidFill>
              </a:rPr>
              <a:t>devguard request-exception, with a reason.</a:t>
            </a:r>
            <a:endParaRPr lang="en-US" sz="1400" dirty="0"/>
          </a:p>
        </p:txBody>
      </p:sp>
      <p:sp>
        <p:nvSpPr>
          <p:cNvPr id="14" name="Arrow"/>
          <p:cNvSpPr/>
          <p:nvPr/>
        </p:nvSpPr>
        <p:spPr>
          <a:xfrm>
            <a:off x="5888736" y="2834640"/>
            <a:ext cx="411480" cy="274320"/>
          </a:xfrm>
          <a:prstGeom prst="rightArrow">
            <a:avLst/>
          </a:prstGeom>
          <a:solidFill>
            <a:srgbClr val="94A3B8"/>
          </a:solidFill>
          <a:ln w="6350">
            <a:solidFill>
              <a:srgbClr val="94A3B8"/>
            </a:solidFill>
            <a:prstDash val="solid"/>
          </a:ln>
        </p:spPr>
      </p:sp>
      <p:sp>
        <p:nvSpPr>
          <p:cNvPr id="15" name="Card"/>
          <p:cNvSpPr/>
          <p:nvPr/>
        </p:nvSpPr>
        <p:spPr>
          <a:xfrm>
            <a:off x="6391656" y="2057400"/>
            <a:ext cx="2327148" cy="2103120"/>
          </a:xfrm>
          <a:prstGeom prst="roundRect">
            <a:avLst>
              <a:gd name="adj" fmla="val 5217"/>
            </a:avLst>
          </a:prstGeom>
          <a:solidFill>
            <a:srgbClr val="FFFBEB"/>
          </a:solidFill>
          <a:ln w="9525">
            <a:solidFill>
              <a:srgbClr val="FDE68A"/>
            </a:solidFill>
            <a:prstDash val="solid"/>
          </a:ln>
        </p:spPr>
      </p:sp>
      <p:sp>
        <p:nvSpPr>
          <p:cNvPr id="16" name="Badge 3"/>
          <p:cNvSpPr/>
          <p:nvPr/>
        </p:nvSpPr>
        <p:spPr>
          <a:xfrm>
            <a:off x="6592824" y="2240280"/>
            <a:ext cx="365760" cy="365760"/>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4"/>
          <p:cNvSpPr txBox="1"/>
          <p:nvPr/>
        </p:nvSpPr>
        <p:spPr>
          <a:xfrm>
            <a:off x="6592824" y="2724912"/>
            <a:ext cx="1924812" cy="548640"/>
          </a:xfrm>
          <a:prstGeom prst="rect">
            <a:avLst/>
          </a:prstGeom>
          <a:noFill/>
          <a:ln/>
        </p:spPr>
        <p:txBody>
          <a:bodyPr wrap="square" lIns="0" tIns="0" rIns="0" bIns="0" rtlCol="0" anchor="t"/>
          <a:lstStyle/>
          <a:p>
            <a:pPr indent="0" marL="0">
              <a:buNone/>
            </a:pPr>
            <a:r>
              <a:rPr lang="en-US" sz="1600" b="1" dirty="0">
                <a:solidFill>
                  <a:schemeClr val="accent3"/>
                </a:solidFill>
              </a:rPr>
              <a:t>Another admin decides</a:t>
            </a:r>
            <a:endParaRPr lang="en-US" sz="1600" dirty="0"/>
          </a:p>
        </p:txBody>
      </p:sp>
      <p:sp>
        <p:nvSpPr>
          <p:cNvPr id="18" name="Text 15"/>
          <p:cNvSpPr txBox="1"/>
          <p:nvPr/>
        </p:nvSpPr>
        <p:spPr>
          <a:xfrm>
            <a:off x="6592824" y="3364992"/>
            <a:ext cx="1924812" cy="731520"/>
          </a:xfrm>
          <a:prstGeom prst="rect">
            <a:avLst/>
          </a:prstGeom>
          <a:noFill/>
          <a:ln/>
        </p:spPr>
        <p:txBody>
          <a:bodyPr wrap="square" lIns="0" tIns="0" rIns="0" bIns="0" rtlCol="0" anchor="t"/>
          <a:lstStyle/>
          <a:p>
            <a:pPr indent="0" marL="0">
              <a:buNone/>
            </a:pPr>
            <a:r>
              <a:rPr lang="en-US" sz="1400" dirty="0">
                <a:solidFill>
                  <a:schemeClr val="accent6"/>
                </a:solidFill>
              </a:rPr>
              <a:t>Adds a reason and an expiry, up to 72 hours.</a:t>
            </a:r>
            <a:endParaRPr lang="en-US" sz="1400" dirty="0"/>
          </a:p>
        </p:txBody>
      </p:sp>
      <p:sp>
        <p:nvSpPr>
          <p:cNvPr id="19" name="Arrow"/>
          <p:cNvSpPr/>
          <p:nvPr/>
        </p:nvSpPr>
        <p:spPr>
          <a:xfrm>
            <a:off x="8810244" y="2834640"/>
            <a:ext cx="411480" cy="274320"/>
          </a:xfrm>
          <a:prstGeom prst="rightArrow">
            <a:avLst/>
          </a:prstGeom>
          <a:solidFill>
            <a:srgbClr val="94A3B8"/>
          </a:solidFill>
          <a:ln w="6350">
            <a:solidFill>
              <a:srgbClr val="94A3B8"/>
            </a:solidFill>
            <a:prstDash val="solid"/>
          </a:ln>
        </p:spPr>
      </p:sp>
      <p:sp>
        <p:nvSpPr>
          <p:cNvPr id="20" name="Card"/>
          <p:cNvSpPr/>
          <p:nvPr/>
        </p:nvSpPr>
        <p:spPr>
          <a:xfrm>
            <a:off x="9313164" y="2057400"/>
            <a:ext cx="2327148" cy="2103120"/>
          </a:xfrm>
          <a:prstGeom prst="roundRect">
            <a:avLst>
              <a:gd name="adj" fmla="val 5217"/>
            </a:avLst>
          </a:prstGeom>
          <a:solidFill>
            <a:srgbClr val="ECFDF5"/>
          </a:solidFill>
          <a:ln w="9525">
            <a:solidFill>
              <a:srgbClr val="A7F3D0"/>
            </a:solidFill>
            <a:prstDash val="solid"/>
          </a:ln>
        </p:spPr>
      </p:sp>
      <p:sp>
        <p:nvSpPr>
          <p:cNvPr id="21" name="Badge 4"/>
          <p:cNvSpPr/>
          <p:nvPr/>
        </p:nvSpPr>
        <p:spPr>
          <a:xfrm>
            <a:off x="9514332" y="2240280"/>
            <a:ext cx="365760" cy="365760"/>
          </a:xfrm>
          <a:prstGeom prst="ellipse">
            <a:avLst/>
          </a:prstGeom>
          <a:solidFill>
            <a:schemeClr val="accent5"/>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2" name="Text 19"/>
          <p:cNvSpPr txBox="1"/>
          <p:nvPr/>
        </p:nvSpPr>
        <p:spPr>
          <a:xfrm>
            <a:off x="9514332" y="2724912"/>
            <a:ext cx="1924812" cy="548640"/>
          </a:xfrm>
          <a:prstGeom prst="rect">
            <a:avLst/>
          </a:prstGeom>
          <a:noFill/>
          <a:ln/>
        </p:spPr>
        <p:txBody>
          <a:bodyPr wrap="square" lIns="0" tIns="0" rIns="0" bIns="0" rtlCol="0" anchor="t"/>
          <a:lstStyle/>
          <a:p>
            <a:pPr indent="0" marL="0">
              <a:buNone/>
            </a:pPr>
            <a:r>
              <a:rPr lang="en-US" sz="1600" b="1" dirty="0">
                <a:solidFill>
                  <a:schemeClr val="accent5"/>
                </a:solidFill>
              </a:rPr>
              <a:t>Retry the push</a:t>
            </a:r>
            <a:endParaRPr lang="en-US" sz="1600" dirty="0"/>
          </a:p>
        </p:txBody>
      </p:sp>
      <p:sp>
        <p:nvSpPr>
          <p:cNvPr id="23" name="Text 20"/>
          <p:cNvSpPr txBox="1"/>
          <p:nvPr/>
        </p:nvSpPr>
        <p:spPr>
          <a:xfrm>
            <a:off x="9514332" y="3364992"/>
            <a:ext cx="1924812" cy="731520"/>
          </a:xfrm>
          <a:prstGeom prst="rect">
            <a:avLst/>
          </a:prstGeom>
          <a:noFill/>
          <a:ln/>
        </p:spPr>
        <p:txBody>
          <a:bodyPr wrap="square" lIns="0" tIns="0" rIns="0" bIns="0" rtlCol="0" anchor="t"/>
          <a:lstStyle/>
          <a:p>
            <a:pPr indent="0" marL="0">
              <a:buNone/>
            </a:pPr>
            <a:r>
              <a:rPr lang="en-US" sz="1400" dirty="0">
                <a:solidFill>
                  <a:schemeClr val="accent6"/>
                </a:solidFill>
              </a:rPr>
              <a:t>Allowed while approved, for that destination only.</a:t>
            </a:r>
            <a:endParaRPr lang="en-US" sz="1400" dirty="0"/>
          </a:p>
        </p:txBody>
      </p:sp>
      <p:sp>
        <p:nvSpPr>
          <p:cNvPr id="24" name="Text 21"/>
          <p:cNvSpPr txBox="1"/>
          <p:nvPr/>
        </p:nvSpPr>
        <p:spPr>
          <a:xfrm>
            <a:off x="548640" y="4572000"/>
            <a:ext cx="11091672" cy="155448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chemeClr val="tx1"/>
                </a:solidFill>
              </a:rPr>
              <a:t>Covers one project and one destination, for a limited time</a:t>
            </a:r>
            <a:endParaRPr lang="en-US" sz="2000" dirty="0"/>
          </a:p>
          <a:p>
            <a:pPr marL="342900" indent="-342900">
              <a:spcAft>
                <a:spcPts val="1000"/>
              </a:spcAft>
              <a:buSzPct val="100000"/>
              <a:buChar char="•"/>
            </a:pPr>
            <a:r>
              <a:rPr lang="en-US" sz="2000" dirty="0">
                <a:solidFill>
                  <a:schemeClr val="tx1"/>
                </a:solidFill>
              </a:rPr>
              <a:t>Never overrides a block caused by a secret or a prohibited file</a:t>
            </a:r>
            <a:endParaRPr lang="en-US" sz="2000" dirty="0"/>
          </a:p>
          <a:p>
            <a:pPr marL="342900" indent="-342900">
              <a:spcAft>
                <a:spcPts val="1000"/>
              </a:spcAft>
              <a:buSzPct val="100000"/>
              <a:buChar char="•"/>
            </a:pPr>
            <a:r>
              <a:rPr lang="en-US" sz="2000" dirty="0">
                <a:solidFill>
                  <a:schemeClr val="tx1"/>
                </a:solidFill>
              </a:rPr>
              <a:t>Works only while the laptop can reach the server, which checks it each time</a:t>
            </a:r>
            <a:endParaRPr lang="en-US" sz="20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Eyebrow"/>
          <p:cNvSpPr txBox="1"/>
          <p:nvPr/>
        </p:nvSpPr>
        <p:spPr>
          <a:xfrm>
            <a:off x="548640" y="438912"/>
            <a:ext cx="11091672"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RUNNING DEVGUARD</a:t>
            </a:r>
            <a:endParaRPr lang="en-US" sz="1200" dirty="0"/>
          </a:p>
        </p:txBody>
      </p:sp>
      <p:sp>
        <p:nvSpPr>
          <p:cNvPr id="4" name="Text 0"/>
          <p:cNvSpPr/>
          <p:nvPr>
            <p:ph idx="100" type="title" hasCustomPrompt="1"/>
          </p:nvPr>
        </p:nvSpPr>
        <p:spPr>
          <a:xfrm>
            <a:off x="548640" y="777240"/>
            <a:ext cx="11091672" cy="1051560"/>
          </a:xfrm>
          <a:prstGeom prst="rect">
            <a:avLst/>
          </a:prstGeom>
          <a:noFill/>
          <a:ln/>
        </p:spPr>
        <p:txBody>
          <a:bodyPr wrap="square" lIns="0" tIns="0" rIns="0" bIns="0" rtlCol="0" anchor="t"/>
          <a:lstStyle/>
          <a:p>
            <a:pPr algn="l" indent="0" marL="0">
              <a:buNone/>
            </a:pPr>
            <a:r>
              <a:rPr lang="en-US" sz="3400" b="1" dirty="0">
                <a:solidFill>
                  <a:schemeClr val="tx1"/>
                </a:solidFill>
              </a:rPr>
              <a:t>Quick start with Docker</a:t>
            </a:r>
            <a:endParaRPr lang="en-US" sz="3400" dirty="0"/>
          </a:p>
        </p:txBody>
      </p:sp>
      <p:sp>
        <p:nvSpPr>
          <p:cNvPr id="5" name="Docker commands"/>
          <p:cNvSpPr/>
          <p:nvPr/>
        </p:nvSpPr>
        <p:spPr>
          <a:xfrm>
            <a:off x="548640" y="2011680"/>
            <a:ext cx="6309360" cy="2926080"/>
          </a:xfrm>
          <a:prstGeom prst="roundRect">
            <a:avLst>
              <a:gd name="adj" fmla="val 3750"/>
            </a:avLst>
          </a:prstGeom>
          <a:solidFill>
            <a:schemeClr val="tx2"/>
          </a:solidFill>
          <a:ln w="6350">
            <a:solidFill>
              <a:schemeClr val="tx2"/>
            </a:solidFill>
            <a:prstDash val="solid"/>
          </a:ln>
        </p:spPr>
      </p:sp>
      <p:sp>
        <p:nvSpPr>
          <p:cNvPr id="6" name="Text 3"/>
          <p:cNvSpPr txBox="1"/>
          <p:nvPr/>
        </p:nvSpPr>
        <p:spPr>
          <a:xfrm>
            <a:off x="914400" y="2240280"/>
            <a:ext cx="5577840" cy="2560320"/>
          </a:xfrm>
          <a:prstGeom prst="rect">
            <a:avLst/>
          </a:prstGeom>
          <a:noFill/>
          <a:ln/>
        </p:spPr>
        <p:txBody>
          <a:bodyPr wrap="square" lIns="0" tIns="0" rIns="0" bIns="0" rtlCol="0" anchor="t"/>
          <a:lstStyle/>
          <a:p>
            <a:pPr indent="0" marL="0">
              <a:lnSpc>
                <a:spcPct val="115000"/>
              </a:lnSpc>
              <a:buNone/>
            </a:pPr>
            <a:r>
              <a:rPr lang="en-US" sz="1400" dirty="0">
                <a:solidFill>
                  <a:srgbClr val="94A3B8"/>
                </a:solidFill>
                <a:latin typeface="Courier New" pitchFamily="34" charset="0"/>
                <a:ea typeface="Courier New" pitchFamily="34" charset="-122"/>
                <a:cs typeface="Courier New" pitchFamily="34" charset="-120"/>
              </a:rPr>
              <a:t># 1. copy the example settings</a:t>
            </a:r>
            <a:endParaRPr lang="en-US" sz="1600" dirty="0"/>
          </a:p>
          <a:p>
            <a:pPr indent="0" marL="0">
              <a:lnSpc>
                <a:spcPct val="115000"/>
              </a:lnSpc>
              <a:buNone/>
            </a:pPr>
            <a:r>
              <a:rPr lang="en-US" sz="1400" dirty="0">
                <a:solidFill>
                  <a:srgbClr val="E2E8F0"/>
                </a:solidFill>
                <a:latin typeface="Courier New" pitchFamily="34" charset="0"/>
                <a:ea typeface="Courier New" pitchFamily="34" charset="-122"/>
                <a:cs typeface="Courier New" pitchFamily="34" charset="-120"/>
              </a:rPr>
              <a:t>cp .env.example .env</a:t>
            </a:r>
            <a:endParaRPr lang="en-US" sz="1600" dirty="0"/>
          </a:p>
          <a:p>
            <a:pPr indent="0" marL="0">
              <a:lnSpc>
                <a:spcPct val="115000"/>
              </a:lnSpc>
              <a:buNone/>
            </a:pPr>
            <a:r>
              <a:rPr lang="en-US" sz="1400" dirty="0">
                <a:solidFill>
                  <a:srgbClr val="E2E8F0"/>
                </a:solidFill>
                <a:latin typeface="Courier New" pitchFamily="34" charset="0"/>
                <a:ea typeface="Courier New" pitchFamily="34" charset="-122"/>
                <a:cs typeface="Courier New" pitchFamily="34" charset="-120"/>
              </a:rPr>
              <a:t> </a:t>
            </a:r>
            <a:endParaRPr lang="en-US" sz="1600" dirty="0"/>
          </a:p>
          <a:p>
            <a:pPr indent="0" marL="0">
              <a:lnSpc>
                <a:spcPct val="115000"/>
              </a:lnSpc>
              <a:buNone/>
            </a:pPr>
            <a:r>
              <a:rPr lang="en-US" sz="1400" dirty="0">
                <a:solidFill>
                  <a:srgbClr val="94A3B8"/>
                </a:solidFill>
                <a:latin typeface="Courier New" pitchFamily="34" charset="0"/>
                <a:ea typeface="Courier New" pitchFamily="34" charset="-122"/>
                <a:cs typeface="Courier New" pitchFamily="34" charset="-120"/>
              </a:rPr>
              <a:t># 2. start database, mail, API, dashboard</a:t>
            </a:r>
            <a:endParaRPr lang="en-US" sz="1600" dirty="0"/>
          </a:p>
          <a:p>
            <a:pPr indent="0" marL="0">
              <a:lnSpc>
                <a:spcPct val="115000"/>
              </a:lnSpc>
              <a:buNone/>
            </a:pPr>
            <a:r>
              <a:rPr lang="en-US" sz="1400" dirty="0">
                <a:solidFill>
                  <a:srgbClr val="7DD3FC"/>
                </a:solidFill>
                <a:latin typeface="Courier New" pitchFamily="34" charset="0"/>
                <a:ea typeface="Courier New" pitchFamily="34" charset="-122"/>
                <a:cs typeface="Courier New" pitchFamily="34" charset="-120"/>
              </a:rPr>
              <a:t>docker compose up -d --build</a:t>
            </a:r>
            <a:endParaRPr lang="en-US" sz="1600" dirty="0"/>
          </a:p>
          <a:p>
            <a:pPr indent="0" marL="0">
              <a:lnSpc>
                <a:spcPct val="115000"/>
              </a:lnSpc>
              <a:buNone/>
            </a:pPr>
            <a:r>
              <a:rPr lang="en-US" sz="1400" dirty="0">
                <a:solidFill>
                  <a:srgbClr val="E2E8F0"/>
                </a:solidFill>
                <a:latin typeface="Courier New" pitchFamily="34" charset="0"/>
                <a:ea typeface="Courier New" pitchFamily="34" charset="-122"/>
                <a:cs typeface="Courier New" pitchFamily="34" charset="-120"/>
              </a:rPr>
              <a:t> </a:t>
            </a:r>
            <a:endParaRPr lang="en-US" sz="1600" dirty="0"/>
          </a:p>
          <a:p>
            <a:pPr indent="0" marL="0">
              <a:lnSpc>
                <a:spcPct val="115000"/>
              </a:lnSpc>
              <a:buNone/>
            </a:pPr>
            <a:r>
              <a:rPr lang="en-US" sz="1400" dirty="0">
                <a:solidFill>
                  <a:srgbClr val="94A3B8"/>
                </a:solidFill>
                <a:latin typeface="Courier New" pitchFamily="34" charset="0"/>
                <a:ea typeface="Courier New" pitchFamily="34" charset="-122"/>
                <a:cs typeface="Courier New" pitchFamily="34" charset="-120"/>
              </a:rPr>
              <a:t># 3. load demo users and data</a:t>
            </a:r>
            <a:endParaRPr lang="en-US" sz="1600" dirty="0"/>
          </a:p>
          <a:p>
            <a:pPr indent="0" marL="0">
              <a:lnSpc>
                <a:spcPct val="115000"/>
              </a:lnSpc>
              <a:buNone/>
            </a:pPr>
            <a:r>
              <a:rPr lang="en-US" sz="1400" dirty="0">
                <a:solidFill>
                  <a:srgbClr val="E2E8F0"/>
                </a:solidFill>
                <a:latin typeface="Courier New" pitchFamily="34" charset="0"/>
                <a:ea typeface="Courier New" pitchFamily="34" charset="-122"/>
                <a:cs typeface="Courier New" pitchFamily="34" charset="-120"/>
              </a:rPr>
              <a:t>pnpm --filter @devguard/api seed</a:t>
            </a:r>
            <a:endParaRPr lang="en-US" sz="1600" dirty="0"/>
          </a:p>
        </p:txBody>
      </p:sp>
      <p:graphicFrame>
        <p:nvGraphicFramePr>
          <p:cNvPr id="18" name="Addresses table"/>
          <p:cNvGraphicFramePr>
            <a:graphicFrameLocks noGrp="1"/>
          </p:cNvGraphicFramePr>
          <p:nvPr>
            <p:extLst>
              <p:ext uri="{D42A27DB-BD31-4B8C-83A1-F6EECF244321}">
                <p14:modId xmlns:p14="http://schemas.microsoft.com/office/powerpoint/2010/main" val="1579011935"/>
              </p:ext>
            </p:extLst>
          </p:nvPr>
        </p:nvGraphicFramePr>
        <p:xfrm>
          <a:off x="7132320" y="2011680"/>
          <a:ext cx="4507992" cy="914400"/>
        </p:xfrm>
        <a:graphic>
          <a:graphicData uri="http://schemas.openxmlformats.org/drawingml/2006/table">
            <a:tbl>
              <a:tblPr/>
              <a:tblGrid>
                <a:gridCol w="1920240"/>
                <a:gridCol w="2587752"/>
              </a:tblGrid>
              <a:tr h="566928">
                <a:tc>
                  <a:txBody>
                    <a:bodyPr/>
                    <a:lstStyle/>
                    <a:p>
                      <a:pPr indent="0" marL="0">
                        <a:buNone/>
                      </a:pPr>
                      <a:r>
                        <a:rPr lang="en-US" sz="1600" b="1" dirty="0">
                          <a:solidFill>
                            <a:schemeClr val="bg1"/>
                          </a:solidFill>
                        </a:rPr>
                        <a:t>What</a:t>
                      </a:r>
                      <a:endParaRPr lang="en-US" sz="1600" dirty="0"/>
                    </a:p>
                  </a:txBody>
                  <a:tcPr marL="128016" marR="128016"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rPr>
                        <a:t>Address</a:t>
                      </a:r>
                      <a:endParaRPr lang="en-US" sz="1600" dirty="0"/>
                    </a:p>
                  </a:txBody>
                  <a:tcPr marL="128016" marR="128016"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chemeClr val="tx2"/>
                    </a:solidFill>
                  </a:tcPr>
                </a:tc>
              </a:tr>
              <a:tr h="566928">
                <a:tc>
                  <a:txBody>
                    <a:bodyPr/>
                    <a:lstStyle/>
                    <a:p>
                      <a:pPr indent="0" marL="0">
                        <a:buNone/>
                      </a:pPr>
                      <a:r>
                        <a:rPr lang="en-US" sz="1600" b="1" dirty="0">
                          <a:solidFill>
                            <a:schemeClr val="tx1"/>
                          </a:solidFill>
                        </a:rPr>
                        <a:t>Dashboard</a:t>
                      </a:r>
                      <a:endParaRPr lang="en-US" sz="1600" dirty="0"/>
                    </a:p>
                  </a:txBody>
                  <a:tcPr marL="128016" marR="128016"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localhost:5173</a:t>
                      </a:r>
                      <a:endParaRPr lang="en-US" sz="1600" dirty="0"/>
                    </a:p>
                  </a:txBody>
                  <a:tcPr marL="128016" marR="128016"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566928">
                <a:tc>
                  <a:txBody>
                    <a:bodyPr/>
                    <a:lstStyle/>
                    <a:p>
                      <a:pPr indent="0" marL="0">
                        <a:buNone/>
                      </a:pPr>
                      <a:r>
                        <a:rPr lang="en-US" sz="1600" b="1" dirty="0">
                          <a:solidFill>
                            <a:schemeClr val="tx1"/>
                          </a:solidFill>
                        </a:rPr>
                        <a:t>API</a:t>
                      </a:r>
                      <a:endParaRPr lang="en-US" sz="1600" dirty="0"/>
                    </a:p>
                  </a:txBody>
                  <a:tcPr marL="128016" marR="128016"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600" dirty="0">
                          <a:solidFill>
                            <a:schemeClr val="tx1"/>
                          </a:solidFill>
                        </a:rPr>
                        <a:t>localhost:3000</a:t>
                      </a:r>
                      <a:endParaRPr lang="en-US" sz="1600" dirty="0"/>
                    </a:p>
                  </a:txBody>
                  <a:tcPr marL="128016" marR="128016"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566928">
                <a:tc>
                  <a:txBody>
                    <a:bodyPr/>
                    <a:lstStyle/>
                    <a:p>
                      <a:pPr indent="0" marL="0">
                        <a:buNone/>
                      </a:pPr>
                      <a:r>
                        <a:rPr lang="en-US" sz="1600" b="1" dirty="0">
                          <a:solidFill>
                            <a:schemeClr val="tx1"/>
                          </a:solidFill>
                        </a:rPr>
                        <a:t>Database</a:t>
                      </a:r>
                      <a:endParaRPr lang="en-US" sz="1600" dirty="0"/>
                    </a:p>
                  </a:txBody>
                  <a:tcPr marL="128016" marR="128016"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600" dirty="0">
                          <a:solidFill>
                            <a:schemeClr val="tx1"/>
                          </a:solidFill>
                        </a:rPr>
                        <a:t>localhost:5433</a:t>
                      </a:r>
                      <a:endParaRPr lang="en-US" sz="1600" dirty="0"/>
                    </a:p>
                  </a:txBody>
                  <a:tcPr marL="128016" marR="128016"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566928">
                <a:tc>
                  <a:txBody>
                    <a:bodyPr/>
                    <a:lstStyle/>
                    <a:p>
                      <a:pPr indent="0" marL="0">
                        <a:buNone/>
                      </a:pPr>
                      <a:r>
                        <a:rPr lang="en-US" sz="1600" b="1" dirty="0">
                          <a:solidFill>
                            <a:schemeClr val="tx1"/>
                          </a:solidFill>
                        </a:rPr>
                        <a:t>Mail inbox</a:t>
                      </a:r>
                      <a:endParaRPr lang="en-US" sz="1600" dirty="0"/>
                    </a:p>
                  </a:txBody>
                  <a:tcPr marL="128016" marR="128016"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600" dirty="0">
                          <a:solidFill>
                            <a:schemeClr val="tx1"/>
                          </a:solidFill>
                        </a:rPr>
                        <a:t>localhost:8025</a:t>
                      </a:r>
                      <a:endParaRPr lang="en-US" sz="1600" dirty="0"/>
                    </a:p>
                  </a:txBody>
                  <a:tcPr marL="128016" marR="128016"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bl>
          </a:graphicData>
        </a:graphic>
      </p:graphicFrame>
      <p:sp>
        <p:nvSpPr>
          <p:cNvPr id="8" name="Warning"/>
          <p:cNvSpPr/>
          <p:nvPr/>
        </p:nvSpPr>
        <p:spPr>
          <a:xfrm>
            <a:off x="548640" y="5257800"/>
            <a:ext cx="11091672" cy="777240"/>
          </a:xfrm>
          <a:prstGeom prst="roundRect">
            <a:avLst>
              <a:gd name="adj" fmla="val 11765"/>
            </a:avLst>
          </a:prstGeom>
          <a:solidFill>
            <a:srgbClr val="FFFBEB"/>
          </a:solidFill>
          <a:ln w="9525">
            <a:solidFill>
              <a:srgbClr val="FDE68A"/>
            </a:solidFill>
            <a:prstDash val="solid"/>
          </a:ln>
        </p:spPr>
      </p:sp>
      <p:sp>
        <p:nvSpPr>
          <p:cNvPr id="9" name="Text 5"/>
          <p:cNvSpPr txBox="1"/>
          <p:nvPr/>
        </p:nvSpPr>
        <p:spPr>
          <a:xfrm>
            <a:off x="822960" y="5257800"/>
            <a:ext cx="10543032" cy="777240"/>
          </a:xfrm>
          <a:prstGeom prst="rect">
            <a:avLst/>
          </a:prstGeom>
          <a:noFill/>
          <a:ln/>
        </p:spPr>
        <p:txBody>
          <a:bodyPr wrap="square" lIns="0" tIns="0" rIns="0" bIns="0" rtlCol="0" anchor="ctr"/>
          <a:lstStyle/>
          <a:p>
            <a:pPr indent="0" marL="0">
              <a:buNone/>
            </a:pPr>
            <a:r>
              <a:rPr lang="en-US" sz="1600" b="1" dirty="0">
                <a:solidFill>
                  <a:srgbClr val="92400E"/>
                </a:solidFill>
              </a:rPr>
              <a:t>Development stack, not production. </a:t>
            </a:r>
            <a:pPr indent="0" marL="0">
              <a:buNone/>
            </a:pPr>
            <a:r>
              <a:rPr lang="en-US" sz="1600" dirty="0">
                <a:solidFill>
                  <a:srgbClr val="92400E"/>
                </a:solidFill>
              </a:rPr>
              <a:t>A real deployment needs HTTPS, production settings and a hardened image.</a:t>
            </a:r>
            <a:endParaRPr lang="en-US" sz="16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Eyebrow"/>
          <p:cNvSpPr txBox="1"/>
          <p:nvPr/>
        </p:nvSpPr>
        <p:spPr>
          <a:xfrm>
            <a:off x="548640" y="438912"/>
            <a:ext cx="11091672" cy="274320"/>
          </a:xfrm>
          <a:prstGeom prst="rect">
            <a:avLst/>
          </a:prstGeom>
          <a:noFill/>
          <a:ln/>
        </p:spPr>
        <p:txBody>
          <a:bodyPr wrap="square" lIns="0" tIns="0" rIns="0" bIns="0" rtlCol="0" anchor="t"/>
          <a:lstStyle/>
          <a:p>
            <a:pPr indent="0" marL="0">
              <a:buNone/>
            </a:pPr>
            <a:r>
              <a:rPr lang="en-US" sz="1200" b="1" spc="300" kern="0" dirty="0">
                <a:solidFill>
                  <a:srgbClr val="A5B4FC"/>
                </a:solidFill>
              </a:rPr>
              <a:t>HONEST LIMITS</a:t>
            </a:r>
            <a:endParaRPr lang="en-US" sz="1200" dirty="0"/>
          </a:p>
        </p:txBody>
      </p:sp>
      <p:sp>
        <p:nvSpPr>
          <p:cNvPr id="4" name="Text 0"/>
          <p:cNvSpPr/>
          <p:nvPr>
            <p:ph idx="100" type="title" hasCustomPrompt="1"/>
          </p:nvPr>
        </p:nvSpPr>
        <p:spPr>
          <a:xfrm>
            <a:off x="548640" y="777240"/>
            <a:ext cx="11091672" cy="1051560"/>
          </a:xfrm>
          <a:prstGeom prst="rect">
            <a:avLst/>
          </a:prstGeom>
          <a:noFill/>
          <a:ln/>
        </p:spPr>
        <p:txBody>
          <a:bodyPr wrap="square" lIns="0" tIns="0" rIns="0" bIns="0" rtlCol="0" anchor="t"/>
          <a:lstStyle/>
          <a:p>
            <a:pPr algn="l" indent="0" marL="0">
              <a:buNone/>
            </a:pPr>
            <a:r>
              <a:rPr lang="en-US" sz="3400" b="1" dirty="0">
                <a:solidFill>
                  <a:schemeClr val="bg1"/>
                </a:solidFill>
              </a:rPr>
              <a:t>A safety net, not a lock</a:t>
            </a:r>
            <a:endParaRPr lang="en-US" sz="3400" dirty="0"/>
          </a:p>
        </p:txBody>
      </p:sp>
      <p:sp>
        <p:nvSpPr>
          <p:cNvPr id="5" name="Text 2"/>
          <p:cNvSpPr txBox="1"/>
          <p:nvPr/>
        </p:nvSpPr>
        <p:spPr>
          <a:xfrm>
            <a:off x="548640" y="1920240"/>
            <a:ext cx="11091672" cy="365760"/>
          </a:xfrm>
          <a:prstGeom prst="rect">
            <a:avLst/>
          </a:prstGeom>
          <a:noFill/>
          <a:ln/>
        </p:spPr>
        <p:txBody>
          <a:bodyPr wrap="square" lIns="0" tIns="0" rIns="0" bIns="0" rtlCol="0" anchor="t"/>
          <a:lstStyle/>
          <a:p>
            <a:pPr indent="0" marL="0">
              <a:buNone/>
            </a:pPr>
            <a:r>
              <a:rPr lang="en-US" sz="2000" dirty="0">
                <a:solidFill>
                  <a:srgbClr val="CBD5E1"/>
                </a:solidFill>
              </a:rPr>
              <a:t>DevGuard cannot stop:</a:t>
            </a:r>
            <a:endParaRPr lang="en-US" sz="2000" dirty="0"/>
          </a:p>
        </p:txBody>
      </p:sp>
      <p:sp>
        <p:nvSpPr>
          <p:cNvPr id="6" name="Limit"/>
          <p:cNvSpPr/>
          <p:nvPr/>
        </p:nvSpPr>
        <p:spPr>
          <a:xfrm>
            <a:off x="548640" y="2468880"/>
            <a:ext cx="5440680" cy="914400"/>
          </a:xfrm>
          <a:prstGeom prst="roundRect">
            <a:avLst>
              <a:gd name="adj" fmla="val 10000"/>
            </a:avLst>
          </a:prstGeom>
          <a:solidFill>
            <a:srgbClr val="111A2E"/>
          </a:solidFill>
          <a:ln w="9525">
            <a:solidFill>
              <a:srgbClr val="1E293B"/>
            </a:solidFill>
            <a:prstDash val="solid"/>
          </a:ln>
        </p:spPr>
      </p:sp>
      <p:sp>
        <p:nvSpPr>
          <p:cNvPr id="7" name="Marker"/>
          <p:cNvSpPr/>
          <p:nvPr/>
        </p:nvSpPr>
        <p:spPr>
          <a:xfrm>
            <a:off x="822960" y="2834640"/>
            <a:ext cx="182880" cy="182880"/>
          </a:xfrm>
          <a:prstGeom prst="ellipse">
            <a:avLst/>
          </a:prstGeom>
          <a:solidFill>
            <a:srgbClr val="F87171"/>
          </a:solidFill>
          <a:ln w="6350">
            <a:solidFill>
              <a:srgbClr val="F87171"/>
            </a:solidFill>
            <a:prstDash val="solid"/>
          </a:ln>
        </p:spPr>
      </p:sp>
      <p:sp>
        <p:nvSpPr>
          <p:cNvPr id="8" name="Text 5"/>
          <p:cNvSpPr txBox="1"/>
          <p:nvPr/>
        </p:nvSpPr>
        <p:spPr>
          <a:xfrm>
            <a:off x="1188720" y="2468880"/>
            <a:ext cx="4572000" cy="914400"/>
          </a:xfrm>
          <a:prstGeom prst="rect">
            <a:avLst/>
          </a:prstGeom>
          <a:noFill/>
          <a:ln/>
        </p:spPr>
        <p:txBody>
          <a:bodyPr wrap="square" lIns="0" tIns="0" rIns="0" bIns="0" rtlCol="0" anchor="ctr"/>
          <a:lstStyle/>
          <a:p>
            <a:pPr indent="0" marL="0">
              <a:buNone/>
            </a:pPr>
            <a:r>
              <a:rPr lang="en-US" sz="1800" dirty="0">
                <a:solidFill>
                  <a:schemeClr val="bg1"/>
                </a:solidFill>
              </a:rPr>
              <a:t>git push --no-verify, or deleting the hook</a:t>
            </a:r>
            <a:endParaRPr lang="en-US" sz="1800" dirty="0"/>
          </a:p>
        </p:txBody>
      </p:sp>
      <p:sp>
        <p:nvSpPr>
          <p:cNvPr id="9" name="Limit"/>
          <p:cNvSpPr/>
          <p:nvPr/>
        </p:nvSpPr>
        <p:spPr>
          <a:xfrm>
            <a:off x="6199632" y="2468880"/>
            <a:ext cx="5440680" cy="914400"/>
          </a:xfrm>
          <a:prstGeom prst="roundRect">
            <a:avLst>
              <a:gd name="adj" fmla="val 10000"/>
            </a:avLst>
          </a:prstGeom>
          <a:solidFill>
            <a:srgbClr val="111A2E"/>
          </a:solidFill>
          <a:ln w="9525">
            <a:solidFill>
              <a:srgbClr val="1E293B"/>
            </a:solidFill>
            <a:prstDash val="solid"/>
          </a:ln>
        </p:spPr>
      </p:sp>
      <p:sp>
        <p:nvSpPr>
          <p:cNvPr id="10" name="Marker"/>
          <p:cNvSpPr/>
          <p:nvPr/>
        </p:nvSpPr>
        <p:spPr>
          <a:xfrm>
            <a:off x="6473952" y="2834640"/>
            <a:ext cx="182880" cy="182880"/>
          </a:xfrm>
          <a:prstGeom prst="ellipse">
            <a:avLst/>
          </a:prstGeom>
          <a:solidFill>
            <a:srgbClr val="F87171"/>
          </a:solidFill>
          <a:ln w="6350">
            <a:solidFill>
              <a:srgbClr val="F87171"/>
            </a:solidFill>
            <a:prstDash val="solid"/>
          </a:ln>
        </p:spPr>
      </p:sp>
      <p:sp>
        <p:nvSpPr>
          <p:cNvPr id="11" name="Text 8"/>
          <p:cNvSpPr txBox="1"/>
          <p:nvPr/>
        </p:nvSpPr>
        <p:spPr>
          <a:xfrm>
            <a:off x="6839712" y="2468880"/>
            <a:ext cx="4572000" cy="914400"/>
          </a:xfrm>
          <a:prstGeom prst="rect">
            <a:avLst/>
          </a:prstGeom>
          <a:noFill/>
          <a:ln/>
        </p:spPr>
        <p:txBody>
          <a:bodyPr wrap="square" lIns="0" tIns="0" rIns="0" bIns="0" rtlCol="0" anchor="ctr"/>
          <a:lstStyle/>
          <a:p>
            <a:pPr indent="0" marL="0">
              <a:buNone/>
            </a:pPr>
            <a:r>
              <a:rPr lang="en-US" sz="1800" dirty="0">
                <a:solidFill>
                  <a:schemeClr val="bg1"/>
                </a:solidFill>
              </a:rPr>
              <a:t>A repo-level core.hooksPath, such as husky</a:t>
            </a:r>
            <a:endParaRPr lang="en-US" sz="1800" dirty="0"/>
          </a:p>
        </p:txBody>
      </p:sp>
      <p:sp>
        <p:nvSpPr>
          <p:cNvPr id="12" name="Limit"/>
          <p:cNvSpPr/>
          <p:nvPr/>
        </p:nvSpPr>
        <p:spPr>
          <a:xfrm>
            <a:off x="548640" y="3566160"/>
            <a:ext cx="5440680" cy="914400"/>
          </a:xfrm>
          <a:prstGeom prst="roundRect">
            <a:avLst>
              <a:gd name="adj" fmla="val 10000"/>
            </a:avLst>
          </a:prstGeom>
          <a:solidFill>
            <a:srgbClr val="111A2E"/>
          </a:solidFill>
          <a:ln w="9525">
            <a:solidFill>
              <a:srgbClr val="1E293B"/>
            </a:solidFill>
            <a:prstDash val="solid"/>
          </a:ln>
        </p:spPr>
      </p:sp>
      <p:sp>
        <p:nvSpPr>
          <p:cNvPr id="13" name="Marker"/>
          <p:cNvSpPr/>
          <p:nvPr/>
        </p:nvSpPr>
        <p:spPr>
          <a:xfrm>
            <a:off x="822960" y="3931920"/>
            <a:ext cx="182880" cy="182880"/>
          </a:xfrm>
          <a:prstGeom prst="ellipse">
            <a:avLst/>
          </a:prstGeom>
          <a:solidFill>
            <a:srgbClr val="F87171"/>
          </a:solidFill>
          <a:ln w="6350">
            <a:solidFill>
              <a:srgbClr val="F87171"/>
            </a:solidFill>
            <a:prstDash val="solid"/>
          </a:ln>
        </p:spPr>
      </p:sp>
      <p:sp>
        <p:nvSpPr>
          <p:cNvPr id="14" name="Text 11"/>
          <p:cNvSpPr txBox="1"/>
          <p:nvPr/>
        </p:nvSpPr>
        <p:spPr>
          <a:xfrm>
            <a:off x="1188720" y="3566160"/>
            <a:ext cx="4572000" cy="914400"/>
          </a:xfrm>
          <a:prstGeom prst="rect">
            <a:avLst/>
          </a:prstGeom>
          <a:noFill/>
          <a:ln/>
        </p:spPr>
        <p:txBody>
          <a:bodyPr wrap="square" lIns="0" tIns="0" rIns="0" bIns="0" rtlCol="0" anchor="ctr"/>
          <a:lstStyle/>
          <a:p>
            <a:pPr indent="0" marL="0">
              <a:buNone/>
            </a:pPr>
            <a:r>
              <a:rPr lang="en-US" sz="1800" dirty="0">
                <a:solidFill>
                  <a:schemeClr val="bg1"/>
                </a:solidFill>
              </a:rPr>
              <a:t>Other Git clients and other machines</a:t>
            </a:r>
            <a:endParaRPr lang="en-US" sz="1800" dirty="0"/>
          </a:p>
        </p:txBody>
      </p:sp>
      <p:sp>
        <p:nvSpPr>
          <p:cNvPr id="15" name="Limit"/>
          <p:cNvSpPr/>
          <p:nvPr/>
        </p:nvSpPr>
        <p:spPr>
          <a:xfrm>
            <a:off x="6199632" y="3566160"/>
            <a:ext cx="5440680" cy="914400"/>
          </a:xfrm>
          <a:prstGeom prst="roundRect">
            <a:avLst>
              <a:gd name="adj" fmla="val 10000"/>
            </a:avLst>
          </a:prstGeom>
          <a:solidFill>
            <a:srgbClr val="111A2E"/>
          </a:solidFill>
          <a:ln w="9525">
            <a:solidFill>
              <a:srgbClr val="1E293B"/>
            </a:solidFill>
            <a:prstDash val="solid"/>
          </a:ln>
        </p:spPr>
      </p:sp>
      <p:sp>
        <p:nvSpPr>
          <p:cNvPr id="16" name="Marker"/>
          <p:cNvSpPr/>
          <p:nvPr/>
        </p:nvSpPr>
        <p:spPr>
          <a:xfrm>
            <a:off x="6473952" y="3931920"/>
            <a:ext cx="182880" cy="182880"/>
          </a:xfrm>
          <a:prstGeom prst="ellipse">
            <a:avLst/>
          </a:prstGeom>
          <a:solidFill>
            <a:srgbClr val="F87171"/>
          </a:solidFill>
          <a:ln w="6350">
            <a:solidFill>
              <a:srgbClr val="F87171"/>
            </a:solidFill>
            <a:prstDash val="solid"/>
          </a:ln>
        </p:spPr>
      </p:sp>
      <p:sp>
        <p:nvSpPr>
          <p:cNvPr id="17" name="Text 14"/>
          <p:cNvSpPr txBox="1"/>
          <p:nvPr/>
        </p:nvSpPr>
        <p:spPr>
          <a:xfrm>
            <a:off x="6839712" y="3566160"/>
            <a:ext cx="4572000" cy="914400"/>
          </a:xfrm>
          <a:prstGeom prst="rect">
            <a:avLst/>
          </a:prstGeom>
          <a:noFill/>
          <a:ln/>
        </p:spPr>
        <p:txBody>
          <a:bodyPr wrap="square" lIns="0" tIns="0" rIns="0" bIns="0" rtlCol="0" anchor="ctr"/>
          <a:lstStyle/>
          <a:p>
            <a:pPr indent="0" marL="0">
              <a:buNone/>
            </a:pPr>
            <a:r>
              <a:rPr lang="en-US" sz="1800" dirty="0">
                <a:solidFill>
                  <a:schemeClr val="bg1"/>
                </a:solidFill>
              </a:rPr>
              <a:t>Anything that is not a Git push</a:t>
            </a:r>
            <a:endParaRPr lang="en-US" sz="1800" dirty="0"/>
          </a:p>
        </p:txBody>
      </p:sp>
      <p:sp>
        <p:nvSpPr>
          <p:cNvPr id="18" name="Limit"/>
          <p:cNvSpPr/>
          <p:nvPr/>
        </p:nvSpPr>
        <p:spPr>
          <a:xfrm>
            <a:off x="548640" y="4663440"/>
            <a:ext cx="5440680" cy="914400"/>
          </a:xfrm>
          <a:prstGeom prst="roundRect">
            <a:avLst>
              <a:gd name="adj" fmla="val 10000"/>
            </a:avLst>
          </a:prstGeom>
          <a:solidFill>
            <a:srgbClr val="111A2E"/>
          </a:solidFill>
          <a:ln w="9525">
            <a:solidFill>
              <a:srgbClr val="1E293B"/>
            </a:solidFill>
            <a:prstDash val="solid"/>
          </a:ln>
        </p:spPr>
      </p:sp>
      <p:sp>
        <p:nvSpPr>
          <p:cNvPr id="19" name="Marker"/>
          <p:cNvSpPr/>
          <p:nvPr/>
        </p:nvSpPr>
        <p:spPr>
          <a:xfrm>
            <a:off x="822960" y="5029200"/>
            <a:ext cx="182880" cy="182880"/>
          </a:xfrm>
          <a:prstGeom prst="ellipse">
            <a:avLst/>
          </a:prstGeom>
          <a:solidFill>
            <a:srgbClr val="F87171"/>
          </a:solidFill>
          <a:ln w="6350">
            <a:solidFill>
              <a:srgbClr val="F87171"/>
            </a:solidFill>
            <a:prstDash val="solid"/>
          </a:ln>
        </p:spPr>
      </p:sp>
      <p:sp>
        <p:nvSpPr>
          <p:cNvPr id="20" name="Text 17"/>
          <p:cNvSpPr txBox="1"/>
          <p:nvPr/>
        </p:nvSpPr>
        <p:spPr>
          <a:xfrm>
            <a:off x="1188720" y="4663440"/>
            <a:ext cx="4572000" cy="914400"/>
          </a:xfrm>
          <a:prstGeom prst="rect">
            <a:avLst/>
          </a:prstGeom>
          <a:noFill/>
          <a:ln/>
        </p:spPr>
        <p:txBody>
          <a:bodyPr wrap="square" lIns="0" tIns="0" rIns="0" bIns="0" rtlCol="0" anchor="ctr"/>
          <a:lstStyle/>
          <a:p>
            <a:pPr indent="0" marL="0">
              <a:buNone/>
            </a:pPr>
            <a:r>
              <a:rPr lang="en-US" sz="1800" dirty="0">
                <a:solidFill>
                  <a:schemeClr val="bg1"/>
                </a:solidFill>
              </a:rPr>
              <a:t>A repository never matched to a project</a:t>
            </a:r>
            <a:endParaRPr lang="en-US" sz="1800" dirty="0"/>
          </a:p>
        </p:txBody>
      </p:sp>
      <p:sp>
        <p:nvSpPr>
          <p:cNvPr id="21" name="Limit"/>
          <p:cNvSpPr/>
          <p:nvPr/>
        </p:nvSpPr>
        <p:spPr>
          <a:xfrm>
            <a:off x="6199632" y="4663440"/>
            <a:ext cx="5440680" cy="914400"/>
          </a:xfrm>
          <a:prstGeom prst="roundRect">
            <a:avLst>
              <a:gd name="adj" fmla="val 10000"/>
            </a:avLst>
          </a:prstGeom>
          <a:solidFill>
            <a:srgbClr val="111A2E"/>
          </a:solidFill>
          <a:ln w="9525">
            <a:solidFill>
              <a:srgbClr val="1E293B"/>
            </a:solidFill>
            <a:prstDash val="solid"/>
          </a:ln>
        </p:spPr>
      </p:sp>
      <p:sp>
        <p:nvSpPr>
          <p:cNvPr id="22" name="Marker"/>
          <p:cNvSpPr/>
          <p:nvPr/>
        </p:nvSpPr>
        <p:spPr>
          <a:xfrm>
            <a:off x="6473952" y="5029200"/>
            <a:ext cx="182880" cy="182880"/>
          </a:xfrm>
          <a:prstGeom prst="ellipse">
            <a:avLst/>
          </a:prstGeom>
          <a:solidFill>
            <a:srgbClr val="F87171"/>
          </a:solidFill>
          <a:ln w="6350">
            <a:solidFill>
              <a:srgbClr val="F87171"/>
            </a:solidFill>
            <a:prstDash val="solid"/>
          </a:ln>
        </p:spPr>
      </p:sp>
      <p:sp>
        <p:nvSpPr>
          <p:cNvPr id="23" name="Text 20"/>
          <p:cNvSpPr txBox="1"/>
          <p:nvPr/>
        </p:nvSpPr>
        <p:spPr>
          <a:xfrm>
            <a:off x="6839712" y="4663440"/>
            <a:ext cx="4572000" cy="914400"/>
          </a:xfrm>
          <a:prstGeom prst="rect">
            <a:avLst/>
          </a:prstGeom>
          <a:noFill/>
          <a:ln/>
        </p:spPr>
        <p:txBody>
          <a:bodyPr wrap="square" lIns="0" tIns="0" rIns="0" bIns="0" rtlCol="0" anchor="ctr"/>
          <a:lstStyle/>
          <a:p>
            <a:pPr indent="0" marL="0">
              <a:buNone/>
            </a:pPr>
            <a:r>
              <a:rPr lang="en-US" sz="1800" dirty="0">
                <a:solidFill>
                  <a:schemeClr val="bg1"/>
                </a:solidFill>
              </a:rPr>
              <a:t>Secrets the small detector does not know</a:t>
            </a:r>
            <a:endParaRPr lang="en-US" sz="18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4A3B8"/>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Eyebrow"/>
          <p:cNvSpPr txBox="1"/>
          <p:nvPr/>
        </p:nvSpPr>
        <p:spPr>
          <a:xfrm>
            <a:off x="548640" y="438912"/>
            <a:ext cx="11091672"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WHERE IT STANDS</a:t>
            </a:r>
            <a:endParaRPr lang="en-US" sz="1200" dirty="0"/>
          </a:p>
        </p:txBody>
      </p:sp>
      <p:sp>
        <p:nvSpPr>
          <p:cNvPr id="4" name="Text 0"/>
          <p:cNvSpPr/>
          <p:nvPr>
            <p:ph idx="100" type="title" hasCustomPrompt="1"/>
          </p:nvPr>
        </p:nvSpPr>
        <p:spPr>
          <a:xfrm>
            <a:off x="548640" y="777240"/>
            <a:ext cx="11091672" cy="1051560"/>
          </a:xfrm>
          <a:prstGeom prst="rect">
            <a:avLst/>
          </a:prstGeom>
          <a:noFill/>
          <a:ln/>
        </p:spPr>
        <p:txBody>
          <a:bodyPr wrap="square" lIns="0" tIns="0" rIns="0" bIns="0" rtlCol="0" anchor="t"/>
          <a:lstStyle/>
          <a:p>
            <a:pPr algn="l" indent="0" marL="0">
              <a:buNone/>
            </a:pPr>
            <a:r>
              <a:rPr lang="en-US" sz="3400" b="1" dirty="0">
                <a:solidFill>
                  <a:schemeClr val="tx1"/>
                </a:solidFill>
              </a:rPr>
              <a:t>Known gaps and possible next steps</a:t>
            </a:r>
            <a:endParaRPr lang="en-US" sz="3400" dirty="0"/>
          </a:p>
        </p:txBody>
      </p:sp>
      <p:sp>
        <p:nvSpPr>
          <p:cNvPr id="5" name="Card"/>
          <p:cNvSpPr/>
          <p:nvPr/>
        </p:nvSpPr>
        <p:spPr>
          <a:xfrm>
            <a:off x="548640" y="2011680"/>
            <a:ext cx="5440680" cy="3291840"/>
          </a:xfrm>
          <a:prstGeom prst="roundRect">
            <a:avLst>
              <a:gd name="adj" fmla="val 3333"/>
            </a:avLst>
          </a:prstGeom>
          <a:solidFill>
            <a:schemeClr val="bg1"/>
          </a:solidFill>
          <a:ln w="9525">
            <a:solidFill>
              <a:srgbClr val="E2E8F0"/>
            </a:solidFill>
            <a:prstDash val="solid"/>
          </a:ln>
          <a:effectLst>
            <a:outerShdw sx="100000" sy="100000" kx="0" ky="0" algn="bl" rotWithShape="0" blurRad="101600" dist="25400" dir="5400000">
              <a:srgbClr val="000000">
                <a:alpha val="7000"/>
              </a:srgbClr>
            </a:outerShdw>
          </a:effectLst>
        </p:spPr>
      </p:sp>
      <p:sp>
        <p:nvSpPr>
          <p:cNvPr id="6" name="Text 3"/>
          <p:cNvSpPr txBox="1"/>
          <p:nvPr/>
        </p:nvSpPr>
        <p:spPr>
          <a:xfrm>
            <a:off x="914400" y="2240280"/>
            <a:ext cx="4709160" cy="457200"/>
          </a:xfrm>
          <a:prstGeom prst="rect">
            <a:avLst/>
          </a:prstGeom>
          <a:noFill/>
          <a:ln/>
        </p:spPr>
        <p:txBody>
          <a:bodyPr wrap="square" lIns="0" tIns="0" rIns="0" bIns="0" rtlCol="0" anchor="t"/>
          <a:lstStyle/>
          <a:p>
            <a:pPr indent="0" marL="0">
              <a:buNone/>
            </a:pPr>
            <a:r>
              <a:rPr lang="en-US" sz="2400" b="1" dirty="0">
                <a:solidFill>
                  <a:schemeClr val="accent4"/>
                </a:solidFill>
              </a:rPr>
              <a:t>Known gaps</a:t>
            </a:r>
            <a:endParaRPr lang="en-US" sz="2400" dirty="0"/>
          </a:p>
        </p:txBody>
      </p:sp>
      <p:sp>
        <p:nvSpPr>
          <p:cNvPr id="7" name="Text 4"/>
          <p:cNvSpPr txBox="1"/>
          <p:nvPr/>
        </p:nvSpPr>
        <p:spPr>
          <a:xfrm>
            <a:off x="914400" y="2834640"/>
            <a:ext cx="4709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A compromised laptop could trigger many alert emails</a:t>
            </a:r>
            <a:endParaRPr lang="en-US" sz="1800" dirty="0"/>
          </a:p>
          <a:p>
            <a:pPr marL="342900" indent="-342900">
              <a:spcAft>
                <a:spcPts val="1000"/>
              </a:spcAft>
              <a:buSzPct val="100000"/>
              <a:buChar char="•"/>
            </a:pPr>
            <a:r>
              <a:rPr lang="en-US" sz="1800" dirty="0">
                <a:solidFill>
                  <a:schemeClr val="tx1"/>
                </a:solidFill>
              </a:rPr>
              <a:t>A copied session stays valid until it expires</a:t>
            </a:r>
            <a:endParaRPr lang="en-US" sz="1800" dirty="0"/>
          </a:p>
          <a:p>
            <a:pPr marL="342900" indent="-342900">
              <a:spcAft>
                <a:spcPts val="1000"/>
              </a:spcAft>
              <a:buSzPct val="100000"/>
              <a:buChar char="•"/>
            </a:pPr>
            <a:r>
              <a:rPr lang="en-US" sz="1800" dirty="0">
                <a:solidFill>
                  <a:schemeClr val="tx1"/>
                </a:solidFill>
              </a:rPr>
              <a:t>An ssh on port 443 exception will not match the https form</a:t>
            </a:r>
            <a:endParaRPr lang="en-US" sz="1800" dirty="0"/>
          </a:p>
          <a:p>
            <a:pPr marL="342900" indent="-342900">
              <a:spcAft>
                <a:spcPts val="1000"/>
              </a:spcAft>
              <a:buSzPct val="100000"/>
              <a:buChar char="•"/>
            </a:pPr>
            <a:r>
              <a:rPr lang="en-US" sz="1800" dirty="0">
                <a:solidFill>
                  <a:schemeClr val="tx1"/>
                </a:solidFill>
              </a:rPr>
              <a:t>Linux only, manual install, no auto-update</a:t>
            </a:r>
            <a:endParaRPr lang="en-US" sz="1800" dirty="0"/>
          </a:p>
        </p:txBody>
      </p:sp>
      <p:sp>
        <p:nvSpPr>
          <p:cNvPr id="8" name="Card"/>
          <p:cNvSpPr/>
          <p:nvPr/>
        </p:nvSpPr>
        <p:spPr>
          <a:xfrm>
            <a:off x="6199632" y="2011680"/>
            <a:ext cx="5440680" cy="3291840"/>
          </a:xfrm>
          <a:prstGeom prst="roundRect">
            <a:avLst>
              <a:gd name="adj" fmla="val 3333"/>
            </a:avLst>
          </a:prstGeom>
          <a:solidFill>
            <a:schemeClr val="bg1"/>
          </a:solidFill>
          <a:ln w="9525">
            <a:solidFill>
              <a:srgbClr val="E2E8F0"/>
            </a:solidFill>
            <a:prstDash val="solid"/>
          </a:ln>
          <a:effectLst>
            <a:outerShdw sx="100000" sy="100000" kx="0" ky="0" algn="bl" rotWithShape="0" blurRad="101600" dist="25400" dir="5400000">
              <a:srgbClr val="000000">
                <a:alpha val="7000"/>
              </a:srgbClr>
            </a:outerShdw>
          </a:effectLst>
        </p:spPr>
      </p:sp>
      <p:sp>
        <p:nvSpPr>
          <p:cNvPr id="9" name="Text 6"/>
          <p:cNvSpPr txBox="1"/>
          <p:nvPr/>
        </p:nvSpPr>
        <p:spPr>
          <a:xfrm>
            <a:off x="6565392" y="2240280"/>
            <a:ext cx="4709160" cy="457200"/>
          </a:xfrm>
          <a:prstGeom prst="rect">
            <a:avLst/>
          </a:prstGeom>
          <a:noFill/>
          <a:ln/>
        </p:spPr>
        <p:txBody>
          <a:bodyPr wrap="square" lIns="0" tIns="0" rIns="0" bIns="0" rtlCol="0" anchor="t"/>
          <a:lstStyle/>
          <a:p>
            <a:pPr indent="0" marL="0">
              <a:buNone/>
            </a:pPr>
            <a:r>
              <a:rPr lang="en-US" sz="2400" b="1" dirty="0">
                <a:solidFill>
                  <a:schemeClr val="accent2"/>
                </a:solidFill>
              </a:rPr>
              <a:t>Possible next steps (not built)</a:t>
            </a:r>
            <a:endParaRPr lang="en-US" sz="2400" dirty="0"/>
          </a:p>
        </p:txBody>
      </p:sp>
      <p:sp>
        <p:nvSpPr>
          <p:cNvPr id="10" name="Text 7"/>
          <p:cNvSpPr txBox="1"/>
          <p:nvPr/>
        </p:nvSpPr>
        <p:spPr>
          <a:xfrm>
            <a:off x="6565392" y="2834640"/>
            <a:ext cx="4709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A per-laptop alert limit or digest email</a:t>
            </a:r>
            <a:endParaRPr lang="en-US" sz="1800" dirty="0"/>
          </a:p>
          <a:p>
            <a:pPr marL="342900" indent="-342900">
              <a:spcAft>
                <a:spcPts val="1000"/>
              </a:spcAft>
              <a:buSzPct val="100000"/>
              <a:buChar char="•"/>
            </a:pPr>
            <a:r>
              <a:rPr lang="en-US" sz="1800" dirty="0">
                <a:solidFill>
                  <a:schemeClr val="tx1"/>
                </a:solidFill>
              </a:rPr>
              <a:t>Team-lead and project-owner roles</a:t>
            </a:r>
            <a:endParaRPr lang="en-US" sz="1800" dirty="0"/>
          </a:p>
          <a:p>
            <a:pPr marL="342900" indent="-342900">
              <a:spcAft>
                <a:spcPts val="1000"/>
              </a:spcAft>
              <a:buSzPct val="100000"/>
              <a:buChar char="•"/>
            </a:pPr>
            <a:r>
              <a:rPr lang="en-US" sz="1800" dirty="0">
                <a:solidFill>
                  <a:schemeClr val="tx1"/>
                </a:solidFill>
              </a:rPr>
              <a:t>Notification inbox, Slack and Teams</a:t>
            </a:r>
            <a:endParaRPr lang="en-US" sz="1800" dirty="0"/>
          </a:p>
          <a:p>
            <a:pPr marL="342900" indent="-342900">
              <a:spcAft>
                <a:spcPts val="1000"/>
              </a:spcAft>
              <a:buSzPct val="100000"/>
              <a:buChar char="•"/>
            </a:pPr>
            <a:r>
              <a:rPr lang="en-US" sz="1800" dirty="0">
                <a:solidFill>
                  <a:schemeClr val="tx1"/>
                </a:solidFill>
              </a:rPr>
              <a:t>Packaged installer, auto-update and MDM rollout</a:t>
            </a:r>
            <a:endParaRPr lang="en-US" sz="1800" dirty="0"/>
          </a:p>
        </p:txBody>
      </p:sp>
      <p:sp>
        <p:nvSpPr>
          <p:cNvPr id="11" name="Text 8"/>
          <p:cNvSpPr txBox="1"/>
          <p:nvPr/>
        </p:nvSpPr>
        <p:spPr>
          <a:xfrm>
            <a:off x="548640" y="5532120"/>
            <a:ext cx="11091672" cy="548640"/>
          </a:xfrm>
          <a:prstGeom prst="rect">
            <a:avLst/>
          </a:prstGeom>
          <a:noFill/>
          <a:ln/>
        </p:spPr>
        <p:txBody>
          <a:bodyPr wrap="square" lIns="0" tIns="0" rIns="0" bIns="0" rtlCol="0" anchor="t"/>
          <a:lstStyle/>
          <a:p>
            <a:pPr indent="0" marL="0">
              <a:buNone/>
            </a:pPr>
            <a:r>
              <a:rPr lang="en-US" sz="1500" dirty="0">
                <a:solidFill>
                  <a:schemeClr val="accent6"/>
                </a:solidFill>
              </a:rPr>
              <a:t>Alerts today are a minimal email to security administrators, best effort. The right-hand list is a set of options, not commitments.</a:t>
            </a:r>
            <a:endParaRPr lang="en-US" sz="15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3" name="Image 0" descr="DevGuard shield with a check mark">    </p:cNvPr>
          <p:cNvPicPr>
            <a:picLocks noChangeAspect="1"/>
          </p:cNvPicPr>
          <p:nvPr/>
        </p:nvPicPr>
        <p:blipFill>
          <a:blip r:embed="rId1"/>
          <a:stretch>
            <a:fillRect/>
          </a:stretch>
        </p:blipFill>
        <p:spPr>
          <a:xfrm>
            <a:off x="822960" y="685800"/>
            <a:ext cx="640080" cy="640080"/>
          </a:xfrm>
          <a:prstGeom prst="rect">
            <a:avLst/>
          </a:prstGeom>
        </p:spPr>
      </p:pic>
      <p:sp>
        <p:nvSpPr>
          <p:cNvPr id="4" name="Text 0"/>
          <p:cNvSpPr/>
          <p:nvPr>
            <p:ph idx="100" type="title" hasCustomPrompt="1"/>
          </p:nvPr>
        </p:nvSpPr>
        <p:spPr>
          <a:xfrm>
            <a:off x="822960" y="2103120"/>
            <a:ext cx="9144000" cy="1280160"/>
          </a:xfrm>
          <a:prstGeom prst="rect">
            <a:avLst/>
          </a:prstGeom>
          <a:noFill/>
          <a:ln/>
        </p:spPr>
        <p:txBody>
          <a:bodyPr wrap="square" lIns="0" tIns="0" rIns="0" bIns="0" rtlCol="0" anchor="t"/>
          <a:lstStyle/>
          <a:p>
            <a:pPr algn="l" indent="0" marL="0">
              <a:buNone/>
            </a:pPr>
            <a:r>
              <a:rPr lang="en-US" sz="7200" b="1" dirty="0">
                <a:solidFill>
                  <a:schemeClr val="bg1"/>
                </a:solidFill>
              </a:rPr>
              <a:t>Thank you</a:t>
            </a:r>
            <a:endParaRPr lang="en-US" sz="7200" dirty="0"/>
          </a:p>
        </p:txBody>
      </p:sp>
      <p:sp>
        <p:nvSpPr>
          <p:cNvPr id="5" name="Text 1"/>
          <p:cNvSpPr txBox="1"/>
          <p:nvPr/>
        </p:nvSpPr>
        <p:spPr>
          <a:xfrm>
            <a:off x="822960" y="3429000"/>
            <a:ext cx="8686800" cy="1097280"/>
          </a:xfrm>
          <a:prstGeom prst="rect">
            <a:avLst/>
          </a:prstGeom>
          <a:noFill/>
          <a:ln/>
        </p:spPr>
        <p:txBody>
          <a:bodyPr wrap="square" lIns="0" tIns="0" rIns="0" bIns="0" rtlCol="0" anchor="t"/>
          <a:lstStyle/>
          <a:p>
            <a:pPr indent="0" marL="0">
              <a:buNone/>
            </a:pPr>
            <a:r>
              <a:rPr lang="en-US" sz="2600" dirty="0">
                <a:solidFill>
                  <a:srgbClr val="C7D2FE"/>
                </a:solidFill>
              </a:rPr>
              <a:t>A safety net for honest mistakes, with a clear explanation when it steps in and a record of everything it did.</a:t>
            </a:r>
            <a:endParaRPr lang="en-US" sz="2600" dirty="0"/>
          </a:p>
        </p:txBody>
      </p:sp>
      <p:sp>
        <p:nvSpPr>
          <p:cNvPr id="6" name="Text 2"/>
          <p:cNvSpPr txBox="1"/>
          <p:nvPr/>
        </p:nvSpPr>
        <p:spPr>
          <a:xfrm>
            <a:off x="822960" y="5486400"/>
            <a:ext cx="3657600" cy="228600"/>
          </a:xfrm>
          <a:prstGeom prst="rect">
            <a:avLst/>
          </a:prstGeom>
          <a:noFill/>
          <a:ln/>
        </p:spPr>
        <p:txBody>
          <a:bodyPr wrap="square" lIns="0" tIns="0" rIns="0" bIns="0" rtlCol="0" anchor="t"/>
          <a:lstStyle/>
          <a:p>
            <a:pPr indent="0" marL="0">
              <a:buNone/>
            </a:pPr>
            <a:r>
              <a:rPr lang="en-US" sz="1100" spc="300" kern="0" dirty="0">
                <a:solidFill>
                  <a:srgbClr val="94A3B8"/>
                </a:solidFill>
              </a:rPr>
              <a:t>PREPARED BY</a:t>
            </a:r>
            <a:endParaRPr lang="en-US" sz="1100" dirty="0"/>
          </a:p>
        </p:txBody>
      </p:sp>
      <p:sp>
        <p:nvSpPr>
          <p:cNvPr id="7" name="Text 3"/>
          <p:cNvSpPr txBox="1"/>
          <p:nvPr/>
        </p:nvSpPr>
        <p:spPr>
          <a:xfrm>
            <a:off x="822960" y="5760720"/>
            <a:ext cx="5486400" cy="548640"/>
          </a:xfrm>
          <a:prstGeom prst="rect">
            <a:avLst/>
          </a:prstGeom>
          <a:noFill/>
          <a:ln/>
        </p:spPr>
        <p:txBody>
          <a:bodyPr wrap="square" lIns="0" tIns="0" rIns="0" bIns="0" rtlCol="0" anchor="t"/>
          <a:lstStyle/>
          <a:p>
            <a:pPr indent="0" marL="0">
              <a:buNone/>
            </a:pPr>
            <a:r>
              <a:rPr lang="en-US" sz="3000" b="1" dirty="0">
                <a:solidFill>
                  <a:schemeClr val="bg1"/>
                </a:solidFill>
              </a:rPr>
              <a:t>Tushar Saxena</a:t>
            </a:r>
            <a:endParaRPr lang="en-US" sz="3000" dirty="0"/>
          </a:p>
        </p:txBody>
      </p:sp>
      <p:sp>
        <p:nvSpPr>
          <p:cNvPr id="8" name="Text 4"/>
          <p:cNvSpPr txBox="1"/>
          <p:nvPr/>
        </p:nvSpPr>
        <p:spPr>
          <a:xfrm>
            <a:off x="6675120" y="5989320"/>
            <a:ext cx="4663440" cy="320040"/>
          </a:xfrm>
          <a:prstGeom prst="rect">
            <a:avLst/>
          </a:prstGeom>
          <a:noFill/>
          <a:ln/>
        </p:spPr>
        <p:txBody>
          <a:bodyPr wrap="square" lIns="0" tIns="0" rIns="0" bIns="0" rtlCol="0" anchor="t"/>
          <a:lstStyle/>
          <a:p>
            <a:pPr algn="r" indent="0" marL="0">
              <a:buNone/>
            </a:pPr>
            <a:r>
              <a:rPr lang="en-US" sz="1400" dirty="0">
                <a:solidFill>
                  <a:srgbClr val="94A3B8"/>
                </a:solidFill>
              </a:rPr>
              <a:t>Full documentation: DevGuard-Documentation.pdf</a:t>
            </a:r>
            <a:endParaRPr lang="en-US" sz="1400" dirty="0"/>
          </a:p>
        </p:txBody>
      </p:sp>
    </p:spTree>
  </p:cSld>
  <p:clrMapOvr>
    <a:masterClrMapping/>
  </p:clrMapOvr>
</p:sld>
</file>

<file path=ppt/theme/theme1.xml><?xml version="1.0" encoding="utf-8"?>
<a:theme xmlns:a="http://schemas.openxmlformats.org/drawingml/2006/main" name="DevGuard">
  <a:themeElements>
    <a:clrScheme name="DevGuard">
      <a:dk1>
        <a:srgbClr val="0F172A"/>
      </a:dk1>
      <a:lt1>
        <a:srgbClr val="FFFFFF"/>
      </a:lt1>
      <a:dk2>
        <a:srgbClr val="0B1220"/>
      </a:dk2>
      <a:lt2>
        <a:srgbClr val="F8FAFC"/>
      </a:lt2>
      <a:accent1>
        <a:srgbClr val="4F46E5"/>
      </a:accent1>
      <a:accent2>
        <a:srgbClr val="0D9488"/>
      </a:accent2>
      <a:accent3>
        <a:srgbClr val="D97706"/>
      </a:accent3>
      <a:accent4>
        <a:srgbClr val="B91C1C"/>
      </a:accent4>
      <a:accent5>
        <a:srgbClr val="047857"/>
      </a:accent5>
      <a:accent6>
        <a:srgbClr val="475569"/>
      </a:accent6>
      <a:hlink>
        <a:srgbClr val="4F46E5"/>
      </a:hlink>
      <a:folHlink>
        <a:srgbClr val="7C3AED"/>
      </a:folHlink>
    </a:clrScheme>
    <a:fontScheme name="DevGuard">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DevGuard: Developer Security Guardrail</dc:title>
  <dc:subject>DevGuard presentation</dc:subject>
  <dc:creator>Tushar Saxena</dc:creator>
  <cp:lastModifiedBy>Tushar Saxena</cp:lastModifiedBy>
  <cp:revision>1</cp:revision>
  <dcterms:created xsi:type="dcterms:W3CDTF">2026-10-19T13:41:55Z</dcterms:created>
  <dcterms:modified xsi:type="dcterms:W3CDTF">2026-10-19T13:41:55Z</dcterms:modified>
</cp:coreProperties>
</file>